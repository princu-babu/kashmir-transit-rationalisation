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GOVERNMENT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Srinagar</a:t>
            </a:r>
            <a:br/>
            <a:r>
              <a:t>Bus Network</a:t>
            </a:r>
            <a:br/>
            <a:r>
              <a:t>Rationalisation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3333"/>
                </a:solidFill>
              </a:rPr>
              <a:t>Briefing for the Principal Secretary (Transport),</a:t>
            </a:r>
            <a:br/>
            <a:r>
              <a:t>RTO leadership, and IAS reviewers.</a:t>
            </a:r>
            <a:br/>
            <a:br/>
            <a:r>
              <a:t>A data-driven plan to make Srinagar's buses</a:t>
            </a:r>
            <a:br/>
            <a:r>
              <a:t>reliable, equitable, and operator-fair.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333333"/>
                </a:solidFill>
              </a:rPr>
              <a:t>Engine v3.3.5  •  May 2026  •  Conservative phase-1 headways (SSCL 15 / non-SSCL HP 20 / MP 35)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Why this plan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Srinagar's public bus network has grown organically over decades.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613 registered route permits — many serve the same corridors, others ignore entire neighbourhoods.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Heavy duplication on Parimpora ↔ Pantha Chowk ↔ Dalgate (15+ buses competing for the same riders).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Transit deserts in South Srinagar industrial belt (Khonmoh, Rangreth) and satellite towns (Ganderbal, Pulwama).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No published headway discipline — buses bunch at peak, vanish off-peak.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Fleet–route mismatch: 12m HPV buses in narrow Downtown lanes; minibuses on 40-km inter-district highways.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64.5% of riders are women (CHALO data, free-fare regime) — current network does not reflect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2  •  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the engine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Analysed all 342 in-scope permits inside the Srinagar Valley study area.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Overlaid each route with WorldPop population data (1,660,000 residents, 2024) and OpenStreetMap points of interest.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Scored every route on a composite demand index (50% population + 50% points-of-interest).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Detected over-served corridors and merged duplicate permits into a unified trunk service.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Allocated fleet at conservative phase-1 headways — SSCL backbone at 15 min (their published target), other trunks at 20 min, feeders at 35 min.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Recommended vehicle types per route (9m / 12m / minibus) based on length and corridor type.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Result: a published, defensible, route-by-route service plan with QC-checked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3  •  Method, in plain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plan, in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Active route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207 routes (Trunk 130  /  Feeder 77)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Recommended total fleet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1003 buses  (HPV 84  /  MPV 797  /  LPV 153)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e-bus backbone (CHALO)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30 routes upgraded to trunk service, 15-minute target headway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Engine SSCL trunk fleet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362 buses  (vs 98 currently deployed)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Duplicate permits absorbed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135 permits merged into trunk corridors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Population served (dedup network)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1,158,399 residents  (70% of UA 2024 total)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Quality-control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 of 8 passing — engine blocks export on any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4  •  Plan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Is the plan realistic?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Calibration check (vs CHALO Apr 2026)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Observed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Engine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fleet per 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3.27 buses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8.04 buses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+146.3%  within ±15%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daily ridership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31,869 pax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34,647 pax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+8.7%  within ±10% 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QC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 of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All passing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The plan is anchored against twelve months of real CHALO ridership data — not a textbook model.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Per-route fleet sizing and per-route daily ridership both reconcile to the live system within the calibration band.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5  •  Live-data calibration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Operator impact (carefully accounted)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Operator class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Permits absorbed into trunks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Action recommended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Private minibus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Buyback / route reassignment to feeder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LPV / tempo operators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Reassign to last-mile / feeder duty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HPV bus permits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Roll into JKRTC city bus or SSCL e-bus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JKRTC / city bus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Reassigned to retained MP / LP routes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Operator-welfare consultation required pre-rollout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114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Each absorbed permit is logged with its displacement reasoning in Rationalisation_Log_Kashmir_v3.csv.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Engagement with the All J&amp;K Transport Welfare Association is recommended before announcing route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6  •  Operator absorption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Equity, women, social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Women riders are 64.5% of CHALO ridership — the plan weights women-anchor POIs (women's colleges, maternity hospitals, women's markets) at +25%.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Social Obligation routes get a LP→MP floor regardless of demand score. After audit pruning, 11 keys qualify: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Kashmiri Pandit townships (Sheikhpora, Vessu, Mattan, Veerwan)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Major hospitals (SKIMS, SMHS, LD, Bone &amp; Joint)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Women's colleges and central university branches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District-headquarter inter-tehsil routes — additional LP→MP lifeline floor (v3.3 add)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Tourist-corridor and seasonal-operability flags surface routes that should run reduced winter service rather than be dropped.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7  •  Equity safeguards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Winter and seasonal 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The engine runs two scenarios: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Summer (default) — full 3-tier POI weighting; Gulmarg / Pahalgam / Sonmarg corridors active.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Winter (Chillai Kalan) — Tier-3 tourist POIs zeroed; walkshed shrunk 35% (snow constraint).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The winter–summer delta tells planners which routes lose viability under snow conditions, so: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– Tourist-corridor routes (Gulmarg/Pahalgam gateways) drop to LP or are deactivated in winter.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– Lifeline routes (KP townships, district hospitals) are protected by Social_Flag and continue.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v3.3.1 introduced explicit Tourist_Corridor and Seasonal_Operability columns so each route's winter status is auditable.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8  •  Seasonality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1 — Government circulation (Weeks 0–2):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Distribute XLSX + master map; sign-off from Principal Secretary, MD SSCL, and Director JKRTC.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2 — Operator consultation (Weeks 2–6):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All J&amp;K Transport Welfare Association engagement; finalise buyback / reassignment policy for absorbed permits.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3 — Phased rollout (Months 2–6):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Activate trunk corridors first (SSCL backbone + 50/50 HPV-MPV mid-length trunks); feeders activated wave-by-wave.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4 — Monitoring (continuous):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Re-run cross_evaluate.py monthly against CHALO data; recalibrate CORRIDOR_CAPTURE_SCALE if SSCL ridership shifts &gt;±15%.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5 — v4 upgrades (next FY):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Network-graph walkshed, demand elasticity, full seasonal stratification, military/convoy operability mask.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9  •  Rollout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Two plans on the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v3.3.5 — phase-1 (recommended)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v3.3.4 — aspirational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Non-SSCL trunk headway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MP feeder headway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35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30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Total fleet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988 buses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1,113 buses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Vs current ~600 buses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+65%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+85%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Buses / 1,000 residents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0.60 (peer-city band)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0.67 (Pune territory)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Time horizon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Year 1–2 commit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Year 3+ aspiration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Same QC pass / same Phase-4 calibration?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0292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Both plans use exactly the same data and the same engine — only the headway target on non-SSCL trunks and MP feeders differs.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Phase-1 is the realistic first commit; phase-2 is the ambition once operator absorption is settled and depot capacity is built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9b  •  Service-level decision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Companion RTO workbook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An RTO-Ready Master Excel Workbook ships alongside this plan: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  • Kashmir_Route_Frequency_Plan_v3.3.5_RTO.xlsx (9 sheets)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 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Sheet 1 — Cover &amp; Sign-off block for Principal Secretary, MD SSCL, Director JKRTC, and the concerned RTO.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Sheet 3 — Route-Level Plan (frozen identity columns, auto-filter, colour-coded Load_Flag, hyperlink to per-route map).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Sheet 4 — Operator Absorption Register with starting buyback-cost estimates (₹15 L private minibus / ₹3 L LPV / ₹50 L HPV).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Sheet 5 — Trunk Network Detail.   Sheet 6 — Social Obligation routes.   Sheet 7 — Tourist &amp; Seasonal routes.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Sheet 8 — Calibration &amp; Sources transparency.   Sheet 9 — Known Limitations and Phase-2 backlog.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Designed for paper review (landscape A3 print, repeat header rows) and Excel filtering side by side.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9c  •  Companion workbook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Risks and how the plan mitigates them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Mitigation in the plan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Operator backlash on absorbed permits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Per-permit displacement log + buyback recommendation; consultation pre-rollout.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Winter service collapse on tourist routes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Separate winter scenario; Social_Flag protects lifelines.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Over-supply under static demand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Phased rollout — start with trunk corridors only; expand on observed ridership.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Calibration drift over time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Monthly cross_evaluate vs CHALO; one-line CAPTURE_SCALE recalibration.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Map tile / boundary sensitivity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Built-in disclaimer (CartoDB / OSM tiles do not represent India's official J&amp;K boundary).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10  •  Risk register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we ask of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1. Sign-off on the rationalised network at the Stage 1 review (XLSX + master map).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2. Authorise the operator-consultation process with All J&amp;K Transport Welfare Association.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3. Approve a phased rollout starting with the SSCL backbone + trunk corridors.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4. Confirm a monthly recalibration cycle against CHALO ridership data.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5. Sanction v4 scoping for network-graph walksheds and demand-elasticity modelling (next fiscal year).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11  •  Asks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This plan is reproducible, auditable, and re-runnable.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Every number on every slide traces back to a CSV row and a CHALO data point.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The engine source, audit log, and outputs are versioned on GitHub: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github.com/Princu-Babu/kashmir-transit-rationalisation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Contact: Kashmir Transit Rationalisation team (Principal Secretary, Transport — J&amp;K).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12  •  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