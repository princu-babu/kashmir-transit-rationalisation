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DFDB"/>
                </a:solidFill>
                <a:latin typeface="Calibri"/>
              </a:rPr>
              <a:t>KASHMIR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Route Rationalisation Plan — v3.3.5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B2DFDB"/>
                </a:solidFill>
                <a:latin typeface="Segoe UI"/>
              </a:rPr>
              <a:t>Phase-1 Conservative · Engine v3.3.5 · SSCL Backbone + CHALO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00695C"/>
                </a:solidFill>
                <a:latin typeface="Calibri"/>
              </a:rPr>
              <a:t>207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active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TOTAL 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F9A825"/>
                </a:solidFill>
                <a:latin typeface="Calibri"/>
              </a:rPr>
              <a:t>1003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HPV+MPV+LPV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6A1B9A"/>
                </a:solidFill>
                <a:latin typeface="Calibri"/>
              </a:rPr>
              <a:t>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12-metre buses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MPV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2E7D32"/>
                </a:solidFill>
                <a:latin typeface="Calibri"/>
              </a:rPr>
              <a:t>797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9-metre buses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⚠ FOR PLANNING — Phase-1 calibrated against CHALO Apr 2026. Operator consultation required before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From v3.1 → v3.3.6 — Eight Audit 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Each version closes one set of defensible bugs. The plan numbers haven't changed shape, just sharpened.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A237E"/>
                </a:solidFill>
                <a:latin typeface="Segoe UI"/>
              </a:rPr>
              <a:t>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Kashmir fork — replaced Jammu CMP with 30 SSCL CHALO routes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0695C"/>
                </a:solidFill>
                <a:latin typeface="Segoe UI"/>
              </a:rPr>
              <a:t>Audit 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RASTER bug · headway 45→15 · Jhelum bridge · congestion 2.2x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612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Segoe UI"/>
              </a:rPr>
              <a:t>Phase-1 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Spare ratio 1.15 · Phase-4 KPIs · SSCL conflict flag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6344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9A825"/>
                </a:solidFill>
                <a:latin typeface="Segoe UI"/>
              </a:rPr>
              <a:t>Phase-1 r2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Per-km cycle cap · typology mode-share · social prune 17→11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8932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8076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8076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0695C"/>
                </a:solidFill>
                <a:latin typeface="Segoe UI"/>
              </a:rPr>
              <a:t>Demand calib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Daily_Demand rewrite · capture-scale 0.18 · portable RASTER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0" y="2583180"/>
            <a:ext cx="91439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98079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Segoe UI"/>
              </a:rPr>
              <a:t>Teammate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Tourist tagging 4→69 · Daily_Capacity formula fix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59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91540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1540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32F2F"/>
                </a:solidFill>
                <a:latin typeface="Segoe UI"/>
              </a:rPr>
              <a:t>Honest fleet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SSCL empirical = floor not override · LPV restored · Red→0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241280" y="2583180"/>
            <a:ext cx="91439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332719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32719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19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9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Segoe UI"/>
              </a:rPr>
              <a:t>Phase-1 conserv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HP 15→20 · MP 30→35 · fleet 1,113→988 (0.60/1000)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Each step closed bugs without changing the rationalisation maths. v3.3.5 is the recommended phase-1 plan; v3.3.4 stays available as the aspirational 15-min-everywhere variant.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2  ·  Audit lineage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How the engine builds the plan — 4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Calibri"/>
              </a:rPr>
              <a:t>Ingestion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40156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613 permits · bbox clip 33.5–34.5°N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9592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OSRM routing · Kashmir OSM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9028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30 SSCL routes injected as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18464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POIs from OSM Overpass (3-tier)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749039"/>
            <a:ext cx="182880" cy="0"/>
          </a:xfrm>
          <a:prstGeom prst="line">
            <a:avLst/>
          </a:prstGeom>
          <a:ln w="3175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328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00695C"/>
                </a:solidFill>
                <a:latin typeface="Calibri"/>
              </a:rPr>
              <a:t>Spatial scoring</a:t>
            </a:r>
          </a:p>
        </p:txBody>
      </p:sp>
      <p:sp>
        <p:nvSpPr>
          <p:cNvPr id="21" name="Oval 20"/>
          <p:cNvSpPr/>
          <p:nvPr/>
        </p:nvSpPr>
        <p:spPr>
          <a:xfrm>
            <a:off x="3611880" y="340156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400 m walk catchments</a:t>
            </a:r>
          </a:p>
        </p:txBody>
      </p:sp>
      <p:sp>
        <p:nvSpPr>
          <p:cNvPr id="23" name="Oval 22"/>
          <p:cNvSpPr/>
          <p:nvPr/>
        </p:nvSpPr>
        <p:spPr>
          <a:xfrm>
            <a:off x="3611880" y="399592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WorldPop 100 m raster (2024)</a:t>
            </a:r>
          </a:p>
        </p:txBody>
      </p:sp>
      <p:sp>
        <p:nvSpPr>
          <p:cNvPr id="25" name="Oval 24"/>
          <p:cNvSpPr/>
          <p:nvPr/>
        </p:nvSpPr>
        <p:spPr>
          <a:xfrm>
            <a:off x="3611880" y="459028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POI gravity 250 m buffer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518464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Tourist boost ×1.3 on 69 routes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26480" y="3749039"/>
            <a:ext cx="18288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6A1B9A"/>
                </a:solidFill>
                <a:latin typeface="Calibri"/>
              </a:rPr>
              <a:t>Classification</a:t>
            </a:r>
            <a:br/>
            <a:r>
              <a:t>+ fleet sizing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340156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CDI = Pop ×0.5 + POI ×0.5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399592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Jenks bands · HP/MP/LP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459028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Headways · 15 / 20 / 35 / 60 min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518464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⌈Cycle / Headway × 1.15⌉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52560" y="3749039"/>
            <a:ext cx="182880" cy="0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3544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D32F2F"/>
                </a:solidFill>
                <a:latin typeface="Calibri"/>
              </a:rPr>
              <a:t>KPIs + export</a:t>
            </a:r>
          </a:p>
        </p:txBody>
      </p:sp>
      <p:sp>
        <p:nvSpPr>
          <p:cNvPr id="47" name="Oval 46"/>
          <p:cNvSpPr/>
          <p:nvPr/>
        </p:nvSpPr>
        <p:spPr>
          <a:xfrm>
            <a:off x="9464040" y="340156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Daily_Demand · Load_Flag · Subsidy_Risk</a:t>
            </a:r>
          </a:p>
        </p:txBody>
      </p:sp>
      <p:sp>
        <p:nvSpPr>
          <p:cNvPr id="49" name="Oval 48"/>
          <p:cNvSpPr/>
          <p:nvPr/>
        </p:nvSpPr>
        <p:spPr>
          <a:xfrm>
            <a:off x="9464040" y="399592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8/8 QC checks block export on fail</a:t>
            </a:r>
          </a:p>
        </p:txBody>
      </p:sp>
      <p:sp>
        <p:nvSpPr>
          <p:cNvPr id="51" name="Oval 50"/>
          <p:cNvSpPr/>
          <p:nvPr/>
        </p:nvSpPr>
        <p:spPr>
          <a:xfrm>
            <a:off x="9464040" y="459028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9-sheet RTO workbook + dashboards</a:t>
            </a:r>
          </a:p>
        </p:txBody>
      </p:sp>
      <p:sp>
        <p:nvSpPr>
          <p:cNvPr id="53" name="Oval 52"/>
          <p:cNvSpPr/>
          <p:nvPr/>
        </p:nvSpPr>
        <p:spPr>
          <a:xfrm>
            <a:off x="9464040" y="518464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Cross-validate vs CHALO live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3  ·  Pipeline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Network composition — 342 permits → 207 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403684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403684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3764" y="1554480"/>
            <a:ext cx="4407568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43764" y="1554480"/>
            <a:ext cx="4407568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51332" y="1554480"/>
            <a:ext cx="3789947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1332" y="1554480"/>
            <a:ext cx="3789947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182880" cy="5486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Upgraded to Trunk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39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50 routes  ·  14.6% of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560320"/>
            <a:ext cx="182880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57860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Retained as Feeder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39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157 routes  ·  45.9% of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60320"/>
            <a:ext cx="182880" cy="5486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57860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Merged into Trunk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834639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135 routes  ·  39.5% of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Segoe UI"/>
              </a:rPr>
              <a:t>By priority band (active 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27432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HP — High Priority (trunk)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690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15 / 20 min headway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02336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00695C"/>
                </a:solidFill>
                <a:latin typeface="Calibri"/>
              </a:rPr>
              <a:t>130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17720"/>
            <a:ext cx="27432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MP — Medium Priority (feeder)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35 min headway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61772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6A1B9A"/>
                </a:solidFill>
                <a:latin typeface="Calibri"/>
              </a:rPr>
              <a:t>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12080"/>
            <a:ext cx="274320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25780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LP — Low Priority (lifeline)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60 min headway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21208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F9A825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4  ·  Network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9A825"/>
                </a:solidFill>
                <a:latin typeface="Calibri"/>
              </a:rPr>
              <a:t>Recommended fleet — 1003 buses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138 large (12 m HPV) + 730 medium (9 m MPV) + 120 small (LPV / tempo)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HPV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1A237E"/>
                </a:solidFill>
                <a:latin typeface="Calibri"/>
              </a:rP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3657600" cy="64008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192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12-metre standard low-floor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50 seats  ·  8.4% of 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82880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MPV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00695C"/>
                </a:solidFill>
                <a:latin typeface="Calibri"/>
              </a:rPr>
              <a:t>797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749039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832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028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3420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208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5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9-metre SSCL e-bus / midi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35 seats  ·  79.5% of fleet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82880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LPV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46888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D32F2F"/>
                </a:solidFill>
                <a:latin typeface="Calibri"/>
              </a:rPr>
              <a:t>120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19" y="3749039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7259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215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5171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7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30840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1831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59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Tempo / minibus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15 seats  ·  12.0% of fleet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5  ·  Fleet 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SSCL backbone — 30 CHALO routes anchor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Segoe UI"/>
              </a:rPr>
              <a:t>Engine matches the 30 official SSCL e-bus routes to 45 permits in the existing-routes dataset (operator duplicates running the same corridor).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A237E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Official SSCL</a:t>
            </a:r>
            <a:br/>
            <a:r>
              <a:t>CHALO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82111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Apr 2026 ridership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7627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00695C"/>
                </a:solidFill>
                <a:latin typeface="Calibr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Permits matched</a:t>
            </a:r>
            <a:br/>
            <a:r>
              <a:t>in permit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82111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+15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6A1B9A"/>
                </a:solidFill>
                <a:latin typeface="Calibri"/>
              </a:rPr>
              <a:t>8.04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Engine</a:t>
            </a:r>
            <a:br/>
            <a:r>
              <a:t>buses per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82111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@ 15-min headway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03120"/>
            <a:ext cx="2011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76272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74320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vs scaled CHALO</a:t>
            </a:r>
            <a:br/>
            <a:r>
              <a:t>fleet/route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82111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Within ±25% band 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206240"/>
            <a:ext cx="11064240" cy="201168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164592" cy="20116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  <a:latin typeface="Segoe UI"/>
              </a:rPr>
              <a:t>Operator absorption — Phase-1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Operator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# permits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Est.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Private Minibus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02920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Buyback @ ₹15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₹10.50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LPV / Tempo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3218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3218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Last-mile reassignment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321808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₹0.96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HPV Bus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61441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1441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Roll into JKRTC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614416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₹1.50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Total absorbed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90702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135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907024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Mixed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907024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  <a:latin typeface="Segoe UI"/>
              </a:rPr>
              <a:t>₹12.96 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6  ·  SSCL backbone +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Headway plan — phase-1 conservative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 icons spaced proportional to wait time. Visual intuition over a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196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47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13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30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81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47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60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064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691640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169164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916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63339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067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52760" y="1691640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45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080260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SSCL e-bus design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542032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Non-SSCL HP trunks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2542032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91640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87239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2839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2760" y="2542032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Segoe UI"/>
              </a:rPr>
              <a:t>85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2930652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Phase-1 conservative (was 15 in v3.3.4)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392424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92424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3598164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58939" y="3598164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3392424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  <a:latin typeface="Segoe UI"/>
              </a:rPr>
              <a:t>50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3781044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Peer-city feeder norm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242816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Social-promoted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4242816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91640" y="4448556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06740" y="4448556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60" y="4242816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  <a:latin typeface="Segoe UI"/>
              </a:rPr>
              <a:t>4 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4631436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Social_Flag LP→MP exceptions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093208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5093208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691640" y="5298948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52760" y="5093208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  <a:latin typeface="Segoe UI"/>
              </a:rPr>
              <a:t>23 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60" y="5481828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Inter-district / district-HQ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7  ·  Headway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libri"/>
              </a:rPr>
              <a:t>How do we know this plan is right?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Three quick checks an IAS reviewer can defend in the 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Q1.  Are we matching real ridership?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Engine 8.04  vs  scaled CHALO 7.33 buses/route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200400" cy="11887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Yes — the plan's per-route fleet for the SSCL backbone is within 10% of what CHALO would need at the same 15-min headway.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Q2.  Is anyone going to be left standing?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5146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F9A825"/>
                </a:solidFill>
                <a:latin typeface="Calibri"/>
              </a:rPr>
              <a:t>1 of 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290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Amber_Tight  ·  zero Red_Overload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00400" cy="11887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No — only 1 active route runs at or above its seat capacity at the recommended headway. Every other route has spare seats.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600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Q3.  Is the fleet count defensible?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5146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1A237E"/>
                </a:solidFill>
                <a:latin typeface="Calibr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4290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buses per 1,000 residents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31920"/>
            <a:ext cx="3200400" cy="11887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Yes — at 0.60 buses per 1,000 residents Srinagar sits between BMTC Bengaluru (0.51) and Chandigarh CTU (0.65). Peer-city band.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3716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Segoe UI"/>
              </a:rPr>
              <a:t>Calibration anchor: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044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  <a:latin typeface="Segoe UI"/>
              </a:rPr>
              <a:t>Every number in this plan was cross-checked against twelve months of CHALO ridership data (May 2025 – Apr 2026, 11.6 M trips across 30 SSCL e-bus routes). Engine blocks export if any of the 8 QC checks fails — they all passed.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8  ·  Plain-language confidence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Fleet density vs peer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per 1,000 residents — Srinagar lands between BMTC and Chandigarh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Mysuru KSRTC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737360"/>
            <a:ext cx="1969476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1396" y="16916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Bhopal BCLL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103120"/>
            <a:ext cx="2419643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1563" y="20574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Indore Atal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468880"/>
            <a:ext cx="2532184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104" y="24231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BMTC Bengaluru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834640"/>
            <a:ext cx="2869809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1729" y="27889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Srinagar v3.3.5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3200400"/>
            <a:ext cx="3376246" cy="228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8166" y="31546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Chandigarh CTU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566160"/>
            <a:ext cx="3657600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5204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Pune PMPML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931920"/>
            <a:ext cx="4220307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2227" y="38862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Delhi DTC+cluster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297680"/>
            <a:ext cx="5064369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6289" y="42519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Mumbai 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663440"/>
            <a:ext cx="6752492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84412" y="46177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Srinagar at 0.60 is the closest match to Chandigarh CTU (0.65) — comparable city size, comparable terrain, comparable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9  ·  Peer-city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D32F2F"/>
                </a:solidFill>
                <a:latin typeface="Calibri"/>
              </a:rPr>
              <a:t>Two service-level plans on the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v3.3.5 — Phase-1 (recommended)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2E7D32"/>
                </a:solidFill>
                <a:latin typeface="Calibri"/>
              </a:rPr>
              <a:t>988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Non-SSCL trunks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862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6052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35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3484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60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vs current ~600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0916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+65%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Buses /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834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Calibration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578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+9.7%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60020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1600200"/>
            <a:ext cx="5212080" cy="59436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0020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v3.3.4 — Aspirational (phase-2)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8600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D32F2F"/>
                </a:solidFill>
                <a:latin typeface="Calibri"/>
              </a:rPr>
              <a:t>1,113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4612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buses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6118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118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15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8862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Non-SSCL trunks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8862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15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6052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16052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30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4348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43484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70916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vs current ~600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70916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+85%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9834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Buses / 1000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834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0.67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2578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Calibration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52578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+9.7%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Same engine, same data, same QC. Only the non-SSCL headway target differs. Year-1 commit → v3.3.5. Year-3 ambition → v3.3.4.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10  ·  Decision the IAS makes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What's in Phase 1 vs what comes next (Phase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691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Phase 1 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Phase 2 (target)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371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Walk catchment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94560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240280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400 m Euclidean buffer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459736"/>
            <a:ext cx="365760" cy="0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2194560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240280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OSMnx isochrone clipped against Dal/Anchar/Jhelum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13716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16352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Population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907792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953512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WorldPop 2024 raster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3172968"/>
            <a:ext cx="365760" cy="0"/>
          </a:xfrm>
          <a:prstGeom prst="line">
            <a:avLst/>
          </a:prstGeom>
          <a:ln w="2540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2907792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953512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Census 2021 ward + growth-adjusted corridors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21024"/>
            <a:ext cx="13716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9584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Cycle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621024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666744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Virtual 500m stops + congestion×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3886200"/>
            <a:ext cx="365760" cy="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79" y="3621024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666744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Field-timed stop dwell + GPS journey 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34256"/>
            <a:ext cx="13716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42816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4334256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4379976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Static buffer × mode × trips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599432"/>
            <a:ext cx="365760" cy="0"/>
          </a:xfrm>
          <a:prstGeom prst="line">
            <a:avLst/>
          </a:prstGeom>
          <a:ln w="2540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98079" y="4334256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379976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Demand elasticity (Mohring) + AFC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47488"/>
            <a:ext cx="13716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56048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Tourist surge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5047488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5093208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Tier-3 POI weights + ×1.3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40880" y="5312664"/>
            <a:ext cx="365760" cy="0"/>
          </a:xfrm>
          <a:prstGeom prst="line">
            <a:avLst/>
          </a:prstGeom>
          <a:ln w="2540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98079" y="5047488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5093208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Real arrival data from JKTDC / hotels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1371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669280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Convoy / NH-44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5760720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5806440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Not modelled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40880" y="6025896"/>
            <a:ext cx="36576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498079" y="5760720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5806440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Time-of-day operability mask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11  ·  Phase-1 → Phase-2 backlog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Data we'd need from your office to sharpen v3.4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Phase-2 features above are limited by data, not by maths. Here is the concrete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475720" cy="292608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53896"/>
            <a:ext cx="7772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53896"/>
            <a:ext cx="379476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453896"/>
            <a:ext cx="28346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Custodian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53896"/>
            <a:ext cx="35204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73936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Master stops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75104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Kashmir_Stops_Sectored_V2.csv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37360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RTOs / SSCL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Retires the 23 TMP-K placeholder route codes.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04288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04288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249424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Operator permit registry (live)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450591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Permit no. · owner · vehicle no. · depot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12848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RTO offices · J&amp;K Transport Commr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12848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Exact displaced vehicles → defensible buyback.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688336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2779776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79776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724912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GPS traces — current operators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926080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30 days · 1 Hz · SSCL + private operators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688336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CHALO ops · MTS Kashmir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88336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Replaces OSRM free-flow + congestion×2.2 model.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55264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255264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200400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Census 2021 ward-level population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401568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Ward boundaries + 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163824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Census of India · J&amp;K Directorate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63824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Tighter Pop_Score → tighter CDI bands.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39312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3730752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730752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3675887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AFC / fare-card ridership (per route)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3877056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Per-route per-day boardings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639312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CHALO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39312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Enables route-level demand &amp; Mohring elasticity.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20624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4151376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JKTDC tourist arrival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4352544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arrivals · Gulmarg / Pahalgam / Sonamarg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114800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J&amp;K Tourism Dept (JKTDC)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114800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Real seasonal surge → tourist fleet sizing.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590288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2920" y="4681727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681727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626864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Road operability calendar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4828031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NH-44 convoys · Sinthan / Z-Morh / Mughal Road 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4590288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BRO · J&amp;K Traffic · Border Mgmt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590288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Auto-flag Winter_Suspended; subtract un-operable hours.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157216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157216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" y="5102352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Bus stop / depot inventory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" y="5303520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Lat-lon of every stop · depot capacity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5065776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/ JKRTC / RTO offices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065776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Replaces virtual 500 m stop spacing.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541264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632704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5577840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Bridge load / road-width registry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17320" y="5779008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Per-bridge weight limit · arterial road widths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5541264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R&amp;B Dept · MC Srinagar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5541264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Restricts 12 m HPV to roads/bridges that can take it.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181344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egoe UI"/>
              </a:rPr>
              <a:t>Priority key: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83080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83080" y="6199631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40280" y="6181344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blocks v3.4 calibration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83480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6199631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0680" y="6181344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improves accuracy meaningfully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3879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83879" y="6199631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6181344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future-state polish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12  ·  Data we need from your office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What this output is — and what it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3288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207 active routes classified with HP / MP / LP bands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012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4612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Fleet sized for phase-1 conservative headways (15/20/35/60 min)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8736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2336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30 SSCL backbone routes calibrated against CHALO Apr 2026 data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6460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0060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9-sheet RTO workbook with operator absorption + buyback estimates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64184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4184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7784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Reproducible pipeline — every number traces to a CSV row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9164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FFEBEE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69164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691640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 NOT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53288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3288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6888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ridership survey — field validation still required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31012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31012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24612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net-fleet-gap report — current ops verification needed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08736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8736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02336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Final headway commitments — RTO consultation still pending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86460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86460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0060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buyback price commitment — figures are estimates per peer cities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64184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64184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57784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Tourist demand model — surge data is Phase 2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13  ·  Honest scope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B2DFDB"/>
                </a:solidFill>
                <a:latin typeface="Calibri"/>
              </a:rPr>
              <a:t>Recommended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Five asks for the IAS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Sign-off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249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Approve v3.3.5 conservative phase-1 plan at the Stage-1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Operator dialogue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107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Authorise consultation with All J&amp;K Transport Welfare Association.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Phased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965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Activate SSCL backbone + 20-min trunks first; expand on observed ridership.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05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Monthly recalib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823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Re-run cross_evaluate vs CHALO monthly; recalibrate CAPTURE_SCALE if drift &gt; ±15%.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663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Phase-2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681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Sanction next-FY work — OSMnx walksheds, demand elasticity, convoy mask.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Engine v3.3.5 · Companion artefacts: RTO 9-sheet workbook · Headway PDF study guide · Live dashboard at bus-sathi-dashboard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