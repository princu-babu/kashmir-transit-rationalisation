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/>
              <a:t>Recommended fleet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Fleet</c:v>
                </c:pt>
              </c:strCache>
            </c:strRef>
          </c:tx>
          <c:dPt>
            <c:idx val="0"/>
            <c:spPr>
              <a:solidFill>
                <a:srgbClr val="1565C0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EF6C00"/>
              </a:solidFill>
            </c:spPr>
          </c:dPt>
          <c:cat>
            <c:strRef>
              <c:f>Sheet1!$A$2:$A$4</c:f>
              <c:strCache>
                <c:ptCount val="3"/>
                <c:pt idx="0">
                  <c:v>Large (12 m)</c:v>
                </c:pt>
                <c:pt idx="1">
                  <c:v>Medium (9 m)</c:v>
                </c:pt>
                <c:pt idx="2">
                  <c:v>Mini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807</c:v>
                </c:pt>
                <c:pt idx="2">
                  <c:v>122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How often a bus comes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00695C"/>
              </a:solidFill>
            </c:spPr>
          </c:dPt>
          <c:dPt>
            <c:idx val="2"/>
            <c:spPr>
              <a:solidFill>
                <a:srgbClr val="F9A825"/>
              </a:solidFill>
            </c:spPr>
          </c:dPt>
          <c:cat>
            <c:strRef>
              <c:f>Sheet1!$A$2:$A$4</c:f>
              <c:strCache>
                <c:ptCount val="3"/>
                <c:pt idx="0">
                  <c:v>every 15 min</c:v>
                </c:pt>
                <c:pt idx="1">
                  <c:v>every 20 min</c:v>
                </c:pt>
                <c:pt idx="2">
                  <c:v>every 35 min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85</c:v>
                </c:pt>
                <c:pt idx="2">
                  <c:v>77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FFFFFF"/>
                </a:solidFill>
              </a:rPr>
              <a:t>GOVERNMENT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</a:rPr>
              <a:t>Srinagar</a:t>
            </a:r>
            <a:br/>
            <a:r>
              <a:t>Bus Network</a:t>
            </a:r>
            <a:br/>
            <a:r>
              <a:t>Rationalisation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219456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333333"/>
                </a:solidFill>
              </a:rPr>
              <a:t>Briefing for the Principal Secretary (Transport), RTO leadership and IAS reviewers.</a:t>
            </a:r>
            <a:br/>
            <a:br/>
            <a:r>
              <a:t>A data-driven plan to make Srinagar's buses reliable, equitable and operator-fair.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59893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757575"/>
                </a:solidFill>
              </a:rPr>
              <a:t>Engine v3.3.7  •  May 2026  •  Phase-1 plan  •  35-min headway ceiling  •  balanced 50/50 trunk fleet  •  fully open-data &amp;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Why this plan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Srinagar's bus network grew organically over decades — 613 permits, no central frequency plan: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Heavy duplication on Parimpora–Pantha Chowk–Dalgate (15+ buses chasing the same riders).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Transit deserts in the south industrial belt (Khonmoh, Rangreth) and satellite towns.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No headway discipline — buses bunch at peak and vanish off-peak.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Wrong vehicle on the wrong road — big buses in narrow lanes, minibuses on 40-km highways.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333333"/>
                </a:solidFill>
              </a:rPr>
              <a:t>•  64.5% of riders are women, yet the network was never designed around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2  •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The plan,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A237E"/>
                </a:solidFill>
              </a:rPr>
              <a:t>207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clear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898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1,009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buses (Phase-1)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5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+68%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over today's ~600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113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35 min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longest wait anywhere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1565C0"/>
                </a:solidFill>
              </a:rPr>
              <a:t>50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trunk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8989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157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feeder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D32F2F"/>
                </a:solidFill>
              </a:rPr>
              <a:t>135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duplicates absorbed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1130" y="292608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70%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residents 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One confirmed plan — Phase-1 — about 1,009 buses, deployable in Year-1. Fleet density 0.61 buses / 1,000 residents (peer-city band).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3  •  Phase-1 is the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How the plan was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Look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Every route + where people live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&amp; which places they need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51810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3562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Score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Rank each route by real demand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(population + destinations)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8172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9924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Tidy up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Merge duplicate permits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into clear trunk lines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4534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6286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Set service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Buses every 15–35 min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right bus for each road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6928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Built entirely on open data (population, maps, road network) — no proprietary feed needed, so it is transparent and re-runnable.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4  •  Method in plain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Fleet &amp; how often buses run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34440"/>
          <a:ext cx="52120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309360" y="1234440"/>
          <a:ext cx="534924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 route in the plan waits longer than 35 minutes — the 1-hour waits are gone.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5  •  Frequency &amp; fleet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Why you can trust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Standard methods, not guesswork — every formula follows the transit-planning literature: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Fleet = round-trip time ÷ headway, + 15% spare  —  Vuchic (2005), Ceder (2007), APTA practice.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Cycle &amp; recovery time  —  Transit Capacity &amp; Quality of Service Manual (TRB, 2013).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Demand from population + destinations (gravity model)  —  Hansen (1959); Ortúzar &amp; Willumsen (2011).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Real road travel times (OSRM) and real population (WorldPop, Census 2011).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•  Calibrated against SSCL/CHALO published ridership — engine is within ±25% on per-route fleet, 8/8 QC checks pass.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5715000"/>
            <a:ext cx="11155680" cy="566928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Full source list on the references slide — the plan is auditable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6  •  Credibility &amp; 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Equity, women &amp; social obligation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6A1B9A"/>
                </a:solidFill>
              </a:rPr>
              <a:t>64.5%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riders are women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4898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00695C"/>
                </a:solidFill>
              </a:rPr>
              <a:t>+25%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weight on women-anchor POIs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5059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2E7D32"/>
                </a:solidFill>
              </a:rPr>
              <a:t>87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social-obligation routes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1130" y="1143000"/>
            <a:ext cx="2617470" cy="155448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73152"/>
          <a:lstStyle/>
          <a:p>
            <a:pPr algn="ctr"/>
            <a:r>
              <a:rPr sz="3000" b="1" i="0">
                <a:solidFill>
                  <a:srgbClr val="F9A825"/>
                </a:solidFill>
              </a:rPr>
              <a:t>69</a:t>
            </a:r>
          </a:p>
          <a:p>
            <a:pPr algn="ctr"/>
            <a:r>
              <a:rPr sz="1100" b="1" i="0">
                <a:solidFill>
                  <a:srgbClr val="333333"/>
                </a:solidFill>
              </a:rPr>
              <a:t>tourist corridors flagged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Women-anchor destinations (women's colleges, maternity hospitals, women's markets) get a +25% demand weight.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Social-obligation routes are protected with a service floor regardless of raw demand: KP townships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(Sheikhpora, Vessu, Mattan), major hospitals (SKIMS, SMHS, LD), and inter-district lifelines.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333333"/>
                </a:solidFill>
              </a:rPr>
              <a:t>Tourist &amp; seasonal flags mean snow-affected corridors run reduced winter service rather than being dropped.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7  •  Nobody left behind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Operator impact (carefully accounted)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Permits absorbed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Recommended action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Private minibus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Buyback / reassign to feeder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LPV / tempo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Reassign to last-mile / feeder duty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HPV 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Roll into JKRTC / SSCL e-bus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JKRTC / city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Retain on MP / LP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333333"/>
                          </a:solidFill>
                        </a:rPr>
                        <a:t>Operator-welfare consultation before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2976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Each absorbed permit is logged with its reasoning in Rationalisation_Log_Kashmir_v3.csv.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333333"/>
                </a:solidFill>
              </a:rPr>
              <a:t>Engagement with the All J&amp;K Transport Welfare Association is recommended before any route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8  •  Fair to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Weeks 0–2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Government sign-off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Circulate workbook + map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51810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53562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Weeks 2–6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Operator consultation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Finalise buyback policy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8172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9924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Months 2–6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Phased rollout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Trunks first, then feeders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4534" y="3374136"/>
            <a:ext cx="292608" cy="292608"/>
          </a:xfrm>
          <a:prstGeom prst="rightArrow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6286" y="2148840"/>
            <a:ext cx="2585466" cy="2743200"/>
          </a:xfrm>
          <a:prstGeom prst="roundRect">
            <a:avLst/>
          </a:prstGeom>
          <a:solidFill>
            <a:srgbClr val="F5F6FA"/>
          </a:solidFill>
          <a:ln w="1905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28016"/>
          <a:lstStyle/>
          <a:p>
            <a:pPr algn="ctr"/>
            <a:r>
              <a:rPr sz="1350" b="1" i="0">
                <a:solidFill>
                  <a:srgbClr val="00695C"/>
                </a:solidFill>
              </a:rPr>
              <a:t>Ongoing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Monitor &amp; recalibrate</a:t>
            </a:r>
          </a:p>
          <a:p>
            <a:pPr>
              <a:spcBef>
                <a:spcPts val="400"/>
              </a:spcBef>
            </a:pPr>
            <a:r>
              <a:rPr sz="1050" b="0" i="0">
                <a:solidFill>
                  <a:srgbClr val="333333"/>
                </a:solidFill>
              </a:rPr>
              <a:t>• Annual data 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9  • 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What we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1.  Sign off the Phase-1 rationalised network (≈ 1,009 buses) at the Stage-1 review.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2.  Authorise operator consultation with the All J&amp;K Transport Welfare Association.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3.  Approve a phased rollout starting with the SSCL backbone + trunk corridors.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4.  Confirm an annual data refresh &amp; recalibration cycle.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5.  Sanction v4 scoping (network-graph walksheds, demand elasticity) for next 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10  •  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Sources &amp; methodology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333333"/>
                </a:solidFill>
              </a:rPr>
              <a:t>Every formula and parameter in this plan is grounded in the standard transit-planning literature: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Fleet sizing  N = ⌈C / h⌉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Vuchic, V. R. (2005) Urban Transit: Operations, Planning &amp; Economics, Wiley; Ceder, A. (2007) Public Transit Planning and Operation, Elsevier.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Cycle time, dwell &amp; recovery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TRB (2013) Transit Capacity &amp; Quality of Service Manual, 3rd ed. (TCRP Report 165).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Spare ratio (10–20%)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APTA standard operating practice; TCQSM recovery/layover guidance.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Frequency / headway LOS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TCQSM (2013) Ch.5 Quality of Service; Ceder (2007) frequency-setting methods.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Demand — gravity / accessibility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Hansen, W. (1959) How Accessibility Shapes Land Use, JAPA 25(2); Ortúzar &amp; Willumsen (2011) Modelling Transport, 4th ed., Wiley.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400 m walk catchment (~5 min)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El-Geneidy et al. (2014) New evidence on walking distances to transit, Transportation 41.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5440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Natural-breaks classification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Jenks, G. (1967) The Data Model Concept in Statistical Mapping, Int. Yearbook of Cartography.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Population raster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Tatem, A. (2017) WorldPop, open data for spatial demography, Scientific Data 4:170004; Census of India 2011 + Srinagar Smart City DPR.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Road network &amp; routing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Luxen &amp; Vetter (2011) Real-time routing with OpenStreetMap data, ACM SIGSPATIAL (OSRM).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Points of interest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OpenStreetMap contributors (2024), via the Overpass API.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0695C"/>
                </a:solidFill>
              </a:rPr>
              <a:t>Ridership calibration anchor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333333"/>
                </a:solidFill>
              </a:rPr>
              <a:t>SSCL / CHALO Srinagar e-bus published ridership, May 2025–Apr 2026 (aggregate totals only — no GPS/AFC traces used).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References  •  transit-planning literature backing each design choice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This plan is reproducible, auditable and re-runnable.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Every number traces back to open data and a published source.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 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The bus-schedule workbook and interactive map are on the dashboard for one-click access.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333333"/>
                </a:solidFill>
              </a:rPr>
              <a:t>Source &amp; audit log: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55664"/>
            <a:ext cx="11338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1">
                <a:solidFill>
                  <a:srgbClr val="757575"/>
                </a:solidFill>
              </a:rPr>
              <a:t>Slide 12  • 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