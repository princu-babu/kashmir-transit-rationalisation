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 i="0">
                <a:solidFill>
                  <a:srgbClr val="B2DFDB"/>
                </a:solidFill>
                <a:latin typeface="Calibri"/>
              </a:rPr>
              <a:t>KASHMIR VALLEY PUBLIC TRANSPORT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Route Rationalisation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B2DFDB"/>
                </a:solidFill>
                <a:latin typeface="Segoe UI"/>
              </a:rPr>
              <a:t>A data-driven service plan for the Srinagar Valley bus network, built on the Srinagar Smart City electric-bus backbone.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108960"/>
            <a:ext cx="2468880" cy="2377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3108960"/>
            <a:ext cx="2468880" cy="411480"/>
          </a:xfrm>
          <a:prstGeom prst="roundRect">
            <a:avLst>
              <a:gd name="adj" fmla="val 10000"/>
            </a:avLst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246888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ACTIVE ROUTES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57600"/>
            <a:ext cx="246888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4200" b="1" i="0">
                <a:solidFill>
                  <a:srgbClr val="00695C"/>
                </a:solidFill>
                <a:latin typeface="Calibri"/>
              </a:rPr>
              <a:t>207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92040"/>
            <a:ext cx="24688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Segoe UI"/>
              </a:rPr>
              <a:t>clear, non-overlapping lines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3108960"/>
            <a:ext cx="2468880" cy="2377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566160" y="3108960"/>
            <a:ext cx="2468880" cy="411480"/>
          </a:xfrm>
          <a:prstGeom prst="roundRect">
            <a:avLst>
              <a:gd name="adj" fmla="val 10000"/>
            </a:avLst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66160" y="3108960"/>
            <a:ext cx="246888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TOTAL BUSES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657600"/>
            <a:ext cx="246888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4200" b="1" i="0">
                <a:solidFill>
                  <a:srgbClr val="F9A825"/>
                </a:solidFill>
                <a:latin typeface="Calibri"/>
              </a:rPr>
              <a:t>1,009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892040"/>
            <a:ext cx="24688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Segoe UI"/>
              </a:rPr>
              <a:t>recommended for the network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108960"/>
            <a:ext cx="2468880" cy="2377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309360" y="3108960"/>
            <a:ext cx="2468880" cy="411480"/>
          </a:xfrm>
          <a:prstGeom prst="roundRect">
            <a:avLst>
              <a:gd name="adj" fmla="val 10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0" y="3108960"/>
            <a:ext cx="246888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LONGEST WAIT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657600"/>
            <a:ext cx="246888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4200" b="1" i="0">
                <a:solidFill>
                  <a:srgbClr val="6A1B9A"/>
                </a:solidFill>
                <a:latin typeface="Calibri"/>
              </a:rPr>
              <a:t>35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892040"/>
            <a:ext cx="24688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Segoe UI"/>
              </a:rPr>
              <a:t>anywhere on the network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3108960"/>
            <a:ext cx="2468880" cy="2377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052560" y="3108960"/>
            <a:ext cx="2468880" cy="41148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52560" y="3108960"/>
            <a:ext cx="246888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RESIDENTS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657600"/>
            <a:ext cx="246888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4200" b="1" i="0">
                <a:solidFill>
                  <a:srgbClr val="2E7D32"/>
                </a:solidFill>
                <a:latin typeface="Calibri"/>
              </a:rPr>
              <a:t>70%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24688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Segoe UI"/>
              </a:rPr>
              <a:t>covered within a short walk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263640"/>
            <a:ext cx="109728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Segoe UI"/>
              </a:rPr>
              <a:t>Prepared for the Principal Secretary (Transport), Government of Jammu &amp; Kashmir   ·   for planning review ahead of operator consultation.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3385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700" b="1" i="0">
                <a:solidFill>
                  <a:srgbClr val="D32F2F"/>
                </a:solidFill>
                <a:latin typeface="Calibri"/>
              </a:rPr>
              <a:t>Why this plan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757575"/>
                </a:solidFill>
                <a:latin typeface="Segoe UI"/>
              </a:rPr>
              <a:t>Srinagar's bus network grew permit by permit, with no central frequency plan.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664208"/>
            <a:ext cx="274320" cy="274320"/>
          </a:xfrm>
          <a:prstGeom prst="ellipse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338328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500" b="1" i="0">
                <a:solidFill>
                  <a:srgbClr val="D32F2F"/>
                </a:solidFill>
                <a:latin typeface="Segoe UI"/>
              </a:rPr>
              <a:t>Wasteful duplication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554480"/>
            <a:ext cx="7040880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More than a dozen buses chase the same riders on the Parimpora–Lal Chowk–Dalgate corridor, while whole neighbourhoods get nothing.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596896"/>
            <a:ext cx="274320" cy="274320"/>
          </a:xfrm>
          <a:prstGeom prst="ellipse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487168"/>
            <a:ext cx="338328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500" b="1" i="0">
                <a:solidFill>
                  <a:srgbClr val="D32F2F"/>
                </a:solidFill>
                <a:latin typeface="Segoe UI"/>
              </a:rPr>
              <a:t>Transit deserts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87168"/>
            <a:ext cx="7040880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The southern industrial belt (Khonmoh, Rangreth) and satellite towns (Ganderbal, Pulwama) are badly under-served.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9584"/>
            <a:ext cx="274320" cy="274320"/>
          </a:xfrm>
          <a:prstGeom prst="ellipse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3419856"/>
            <a:ext cx="338328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500" b="1" i="0">
                <a:solidFill>
                  <a:srgbClr val="D32F2F"/>
                </a:solidFill>
                <a:latin typeface="Segoe UI"/>
              </a:rPr>
              <a:t>No reliability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419856"/>
            <a:ext cx="7040880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Without a published frequency, buses bunch together at peak hours and disappear off-peak — riders cannot plan around them.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462272"/>
            <a:ext cx="274320" cy="274320"/>
          </a:xfrm>
          <a:prstGeom prst="ellipse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4352544"/>
            <a:ext cx="338328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500" b="1" i="0">
                <a:solidFill>
                  <a:srgbClr val="D32F2F"/>
                </a:solidFill>
                <a:latin typeface="Segoe UI"/>
              </a:rPr>
              <a:t>Wrong bus, wrong road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352544"/>
            <a:ext cx="7040880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Large buses are sent down narrow old-city lanes, while small minibuses run long inter-district highways.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394960"/>
            <a:ext cx="274320" cy="274320"/>
          </a:xfrm>
          <a:prstGeom prst="ellipse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5285232"/>
            <a:ext cx="338328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500" b="1" i="0">
                <a:solidFill>
                  <a:srgbClr val="D32F2F"/>
                </a:solidFill>
                <a:latin typeface="Segoe UI"/>
              </a:rPr>
              <a:t>Built around half the riders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5285232"/>
            <a:ext cx="7040880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Almost two-thirds of riders are women, yet the network was never designed around where they actually travel.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2  ·  The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3385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700" b="1" i="0">
                <a:solidFill>
                  <a:srgbClr val="00695C"/>
                </a:solidFill>
                <a:latin typeface="Calibri"/>
              </a:rPr>
              <a:t>How the plan is built — four stages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2743200" cy="4114800"/>
          </a:xfrm>
          <a:prstGeom prst="roundRect">
            <a:avLst>
              <a:gd name="adj" fmla="val 10000"/>
            </a:avLst>
          </a:prstGeom>
          <a:solidFill>
            <a:srgbClr val="F5F6FA"/>
          </a:solidFill>
          <a:ln w="12700"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2743200" cy="502920"/>
          </a:xfrm>
          <a:prstGeom prst="roundRect">
            <a:avLst>
              <a:gd name="adj" fmla="val 10000"/>
            </a:avLst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27432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STAGE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58568"/>
            <a:ext cx="24688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700" b="1" i="0">
                <a:solidFill>
                  <a:srgbClr val="1A237E"/>
                </a:solidFill>
                <a:latin typeface="Calibri"/>
              </a:rPr>
              <a:t>Gather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3154680"/>
            <a:ext cx="118872" cy="118872"/>
          </a:xfrm>
          <a:prstGeom prst="ellipse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063240"/>
            <a:ext cx="21945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  <a:latin typeface="Segoe UI"/>
              </a:rPr>
              <a:t>Every registered route permit in the valley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3813048"/>
            <a:ext cx="118872" cy="118872"/>
          </a:xfrm>
          <a:prstGeom prst="ellipse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721608"/>
            <a:ext cx="21945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  <a:latin typeface="Segoe UI"/>
              </a:rPr>
              <a:t>Real road driving times on the live map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4471416"/>
            <a:ext cx="118872" cy="118872"/>
          </a:xfrm>
          <a:prstGeom prst="ellipse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379976"/>
            <a:ext cx="21945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  <a:latin typeface="Segoe UI"/>
              </a:rPr>
              <a:t>Where people live, from a satellite population grid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5129783"/>
            <a:ext cx="118872" cy="118872"/>
          </a:xfrm>
          <a:prstGeom prst="ellipse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5038344"/>
            <a:ext cx="21945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  <a:latin typeface="Segoe UI"/>
              </a:rPr>
              <a:t>The places people travel to (hospitals, colleges, markets)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00400" y="3749039"/>
            <a:ext cx="182880" cy="0"/>
          </a:xfrm>
          <a:prstGeom prst="line">
            <a:avLst/>
          </a:prstGeom>
          <a:ln w="31750">
            <a:solidFill>
              <a:srgbClr val="1A2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383280" y="1691640"/>
            <a:ext cx="2743200" cy="4114800"/>
          </a:xfrm>
          <a:prstGeom prst="roundRect">
            <a:avLst>
              <a:gd name="adj" fmla="val 10000"/>
            </a:avLst>
          </a:prstGeom>
          <a:solidFill>
            <a:srgbClr val="F5F6FA"/>
          </a:solidFill>
          <a:ln w="1270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383280" y="1691640"/>
            <a:ext cx="2743200" cy="502920"/>
          </a:xfrm>
          <a:prstGeom prst="roundRect">
            <a:avLst>
              <a:gd name="adj" fmla="val 10000"/>
            </a:avLst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83280" y="1691640"/>
            <a:ext cx="27432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STAGE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258568"/>
            <a:ext cx="24688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700" b="1" i="0">
                <a:solidFill>
                  <a:srgbClr val="00695C"/>
                </a:solidFill>
                <a:latin typeface="Calibri"/>
              </a:rPr>
              <a:t>Measure demand</a:t>
            </a:r>
          </a:p>
        </p:txBody>
      </p:sp>
      <p:sp>
        <p:nvSpPr>
          <p:cNvPr id="21" name="Oval 20"/>
          <p:cNvSpPr/>
          <p:nvPr/>
        </p:nvSpPr>
        <p:spPr>
          <a:xfrm>
            <a:off x="3584448" y="3154680"/>
            <a:ext cx="118872" cy="118872"/>
          </a:xfrm>
          <a:prstGeom prst="ellipse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94760" y="3063240"/>
            <a:ext cx="21945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  <a:latin typeface="Segoe UI"/>
              </a:rPr>
              <a:t>Population living within a short walk of each route</a:t>
            </a:r>
          </a:p>
        </p:txBody>
      </p:sp>
      <p:sp>
        <p:nvSpPr>
          <p:cNvPr id="23" name="Oval 22"/>
          <p:cNvSpPr/>
          <p:nvPr/>
        </p:nvSpPr>
        <p:spPr>
          <a:xfrm>
            <a:off x="3584448" y="3813048"/>
            <a:ext cx="118872" cy="118872"/>
          </a:xfrm>
          <a:prstGeom prst="ellipse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94760" y="3721608"/>
            <a:ext cx="21945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  <a:latin typeface="Segoe UI"/>
              </a:rPr>
              <a:t>The destinations each route reaches, weighted by importance</a:t>
            </a:r>
          </a:p>
        </p:txBody>
      </p:sp>
      <p:sp>
        <p:nvSpPr>
          <p:cNvPr id="25" name="Oval 24"/>
          <p:cNvSpPr/>
          <p:nvPr/>
        </p:nvSpPr>
        <p:spPr>
          <a:xfrm>
            <a:off x="3584448" y="4471416"/>
            <a:ext cx="118872" cy="118872"/>
          </a:xfrm>
          <a:prstGeom prst="ellipse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94760" y="4379976"/>
            <a:ext cx="21945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  <a:latin typeface="Segoe UI"/>
              </a:rPr>
              <a:t>Extra weight for women's destinations and tourist corridors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26480" y="3749039"/>
            <a:ext cx="182880" cy="0"/>
          </a:xfrm>
          <a:prstGeom prst="line">
            <a:avLst/>
          </a:prstGeom>
          <a:ln w="31750">
            <a:solidFill>
              <a:srgbClr val="0069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09360" y="1691640"/>
            <a:ext cx="2743200" cy="4114800"/>
          </a:xfrm>
          <a:prstGeom prst="roundRect">
            <a:avLst>
              <a:gd name="adj" fmla="val 10000"/>
            </a:avLst>
          </a:prstGeom>
          <a:solidFill>
            <a:srgbClr val="F5F6FA"/>
          </a:solidFill>
          <a:ln w="127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309360" y="1691640"/>
            <a:ext cx="2743200" cy="502920"/>
          </a:xfrm>
          <a:prstGeom prst="roundRect">
            <a:avLst>
              <a:gd name="adj" fmla="val 10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1691640"/>
            <a:ext cx="27432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STAGE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2258568"/>
            <a:ext cx="24688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700" b="1" i="0">
                <a:solidFill>
                  <a:srgbClr val="6A1B9A"/>
                </a:solidFill>
                <a:latin typeface="Calibri"/>
              </a:rPr>
              <a:t>Rank and size</a:t>
            </a:r>
          </a:p>
        </p:txBody>
      </p:sp>
      <p:sp>
        <p:nvSpPr>
          <p:cNvPr id="32" name="Oval 31"/>
          <p:cNvSpPr/>
          <p:nvPr/>
        </p:nvSpPr>
        <p:spPr>
          <a:xfrm>
            <a:off x="6510528" y="3154680"/>
            <a:ext cx="118872" cy="118872"/>
          </a:xfrm>
          <a:prstGeom prst="ellipse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20840" y="3063240"/>
            <a:ext cx="21945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  <a:latin typeface="Segoe UI"/>
              </a:rPr>
              <a:t>Rank every route by how much travel it serves</a:t>
            </a:r>
          </a:p>
        </p:txBody>
      </p:sp>
      <p:sp>
        <p:nvSpPr>
          <p:cNvPr id="34" name="Oval 33"/>
          <p:cNvSpPr/>
          <p:nvPr/>
        </p:nvSpPr>
        <p:spPr>
          <a:xfrm>
            <a:off x="6510528" y="3813048"/>
            <a:ext cx="118872" cy="118872"/>
          </a:xfrm>
          <a:prstGeom prst="ellipse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20840" y="3721608"/>
            <a:ext cx="21945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  <a:latin typeface="Segoe UI"/>
              </a:rPr>
              <a:t>Group routes into high, medium and low priority</a:t>
            </a:r>
          </a:p>
        </p:txBody>
      </p:sp>
      <p:sp>
        <p:nvSpPr>
          <p:cNvPr id="36" name="Oval 35"/>
          <p:cNvSpPr/>
          <p:nvPr/>
        </p:nvSpPr>
        <p:spPr>
          <a:xfrm>
            <a:off x="6510528" y="4471416"/>
            <a:ext cx="118872" cy="118872"/>
          </a:xfrm>
          <a:prstGeom prst="ellipse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720840" y="4379976"/>
            <a:ext cx="21945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  <a:latin typeface="Segoe UI"/>
              </a:rPr>
              <a:t>Choose how often buses run on each</a:t>
            </a:r>
          </a:p>
        </p:txBody>
      </p:sp>
      <p:sp>
        <p:nvSpPr>
          <p:cNvPr id="38" name="Oval 37"/>
          <p:cNvSpPr/>
          <p:nvPr/>
        </p:nvSpPr>
        <p:spPr>
          <a:xfrm>
            <a:off x="6510528" y="5129783"/>
            <a:ext cx="118872" cy="118872"/>
          </a:xfrm>
          <a:prstGeom prst="ellipse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20840" y="5038344"/>
            <a:ext cx="21945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  <a:latin typeface="Segoe UI"/>
              </a:rPr>
              <a:t>Work out how many buses that needs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052560" y="3749039"/>
            <a:ext cx="182880" cy="0"/>
          </a:xfrm>
          <a:prstGeom prst="line">
            <a:avLst/>
          </a:prstGeom>
          <a:ln w="31750">
            <a:solidFill>
              <a:srgbClr val="6A1B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235440" y="1691640"/>
            <a:ext cx="2743200" cy="4114800"/>
          </a:xfrm>
          <a:prstGeom prst="roundRect">
            <a:avLst>
              <a:gd name="adj" fmla="val 10000"/>
            </a:avLst>
          </a:prstGeom>
          <a:solidFill>
            <a:srgbClr val="F5F6FA"/>
          </a:solidFill>
          <a:ln w="12700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9235440" y="1691640"/>
            <a:ext cx="2743200" cy="502920"/>
          </a:xfrm>
          <a:prstGeom prst="roundRect">
            <a:avLst>
              <a:gd name="adj" fmla="val 10000"/>
            </a:avLst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235440" y="1691640"/>
            <a:ext cx="27432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STAGE 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72600" y="2258568"/>
            <a:ext cx="24688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700" b="1" i="0">
                <a:solidFill>
                  <a:srgbClr val="D32F2F"/>
                </a:solidFill>
                <a:latin typeface="Calibri"/>
              </a:rPr>
              <a:t>Check and publish</a:t>
            </a:r>
          </a:p>
        </p:txBody>
      </p:sp>
      <p:sp>
        <p:nvSpPr>
          <p:cNvPr id="45" name="Oval 44"/>
          <p:cNvSpPr/>
          <p:nvPr/>
        </p:nvSpPr>
        <p:spPr>
          <a:xfrm>
            <a:off x="9436608" y="3154680"/>
            <a:ext cx="118872" cy="118872"/>
          </a:xfrm>
          <a:prstGeom prst="ellipse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646920" y="3063240"/>
            <a:ext cx="21945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  <a:latin typeface="Segoe UI"/>
              </a:rPr>
              <a:t>Eight automatic quality checks before anything is released</a:t>
            </a:r>
          </a:p>
        </p:txBody>
      </p:sp>
      <p:sp>
        <p:nvSpPr>
          <p:cNvPr id="47" name="Oval 46"/>
          <p:cNvSpPr/>
          <p:nvPr/>
        </p:nvSpPr>
        <p:spPr>
          <a:xfrm>
            <a:off x="9436608" y="3813048"/>
            <a:ext cx="118872" cy="118872"/>
          </a:xfrm>
          <a:prstGeom prst="ellipse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646920" y="3721608"/>
            <a:ext cx="21945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  <a:latin typeface="Segoe UI"/>
              </a:rPr>
              <a:t>Compare against real electric-bus ridership as a sanity check</a:t>
            </a:r>
          </a:p>
        </p:txBody>
      </p:sp>
      <p:sp>
        <p:nvSpPr>
          <p:cNvPr id="49" name="Oval 48"/>
          <p:cNvSpPr/>
          <p:nvPr/>
        </p:nvSpPr>
        <p:spPr>
          <a:xfrm>
            <a:off x="9436608" y="4471416"/>
            <a:ext cx="118872" cy="118872"/>
          </a:xfrm>
          <a:prstGeom prst="ellipse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46920" y="4379976"/>
            <a:ext cx="21945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  <a:latin typeface="Segoe UI"/>
              </a:rPr>
              <a:t>Publish the route plan, maps and the operator workbook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3  ·  Method, stage by stage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3385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700" b="1" i="0">
                <a:solidFill>
                  <a:srgbClr val="6A1B9A"/>
                </a:solidFill>
                <a:latin typeface="Calibri"/>
              </a:rPr>
              <a:t>From 342 permits to 207 clear routes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757575"/>
                </a:solidFill>
                <a:latin typeface="Segoe UI"/>
              </a:rPr>
              <a:t>Duplicate permits are merged into unified trunk lines; the rest are kept as feeders.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1590842" cy="91440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590842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50</a:t>
            </a:r>
          </a:p>
        </p:txBody>
      </p:sp>
      <p:sp>
        <p:nvSpPr>
          <p:cNvPr id="7" name="Rectangle 6"/>
          <p:cNvSpPr/>
          <p:nvPr/>
        </p:nvSpPr>
        <p:spPr>
          <a:xfrm>
            <a:off x="2230922" y="1783080"/>
            <a:ext cx="4995244" cy="914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30922" y="1783080"/>
            <a:ext cx="4995244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157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6166" y="1783080"/>
            <a:ext cx="4295273" cy="91440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6166" y="1783080"/>
            <a:ext cx="4295273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135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26080"/>
            <a:ext cx="201168" cy="566928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2926080"/>
            <a:ext cx="32918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  <a:latin typeface="Segoe UI"/>
              </a:rPr>
              <a:t>Upgraded to trunk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218688"/>
            <a:ext cx="3291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50 routes  ·  15% of permits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926080"/>
            <a:ext cx="201168" cy="566928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0288" y="2926080"/>
            <a:ext cx="32918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  <a:latin typeface="Segoe UI"/>
              </a:rPr>
              <a:t>Kept as feeder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3218688"/>
            <a:ext cx="3291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157 routes  ·  46% of permits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2926080"/>
            <a:ext cx="201168" cy="566928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2926080"/>
            <a:ext cx="32918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  <a:latin typeface="Segoe UI"/>
              </a:rPr>
              <a:t>Merged into a trunk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3218688"/>
            <a:ext cx="3291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135 routes  ·  39% of permits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14800"/>
            <a:ext cx="10881360" cy="173736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224528"/>
            <a:ext cx="10424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Segoe UI"/>
              </a:rPr>
              <a:t>What changes for the rider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572000"/>
            <a:ext cx="1042416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The 207 active routes are a clear, legible network instead of 342 overlapping permits. Trunk lines carry the busiest corridors at high frequency; feeders connect neighbourhoods into them; and the merged 135 permits stop competing for the same passengers.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4  ·  Network composition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3385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700" b="1" i="0">
                <a:solidFill>
                  <a:srgbClr val="F9A825"/>
                </a:solidFill>
                <a:latin typeface="Calibri"/>
              </a:rPr>
              <a:t>Recommended fleet — 1,009 buses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757575"/>
                </a:solidFill>
                <a:latin typeface="Segoe UI"/>
              </a:rPr>
              <a:t>80 large (12-metre)  +  807 medium (9-metre)  +  122 small (minibus)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566160" cy="393192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356616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Segoe UI"/>
              </a:rPr>
              <a:t>Large bus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3566160" cy="1005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6000" b="1" i="0">
                <a:solidFill>
                  <a:srgbClr val="1565C0"/>
                </a:solidFill>
                <a:latin typeface="Calibri"/>
              </a:rPr>
              <a:t>80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749039"/>
            <a:ext cx="3657600" cy="640080"/>
          </a:xfrm>
          <a:prstGeom prst="roundRect">
            <a:avLst>
              <a:gd name="adj" fmla="val 1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60120" y="3858768"/>
            <a:ext cx="54864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554480" y="3858768"/>
            <a:ext cx="54864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148840" y="3858768"/>
            <a:ext cx="54864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0" y="3858768"/>
            <a:ext cx="54864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37560" y="3858768"/>
            <a:ext cx="54864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05840" y="4251959"/>
            <a:ext cx="274320" cy="274320"/>
          </a:xfrm>
          <a:prstGeom prst="ellipse">
            <a:avLst/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931920" y="4251959"/>
            <a:ext cx="274320" cy="274320"/>
          </a:xfrm>
          <a:prstGeom prst="ellipse">
            <a:avLst/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61772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  <a:latin typeface="Segoe UI"/>
              </a:rPr>
              <a:t>12-metre standard low-floor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98348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Segoe UI"/>
              </a:rPr>
              <a:t>about 50 seats  ·  8% of the fleet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1783080"/>
            <a:ext cx="3566160" cy="393192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572000" y="1783080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0" y="1783080"/>
            <a:ext cx="356616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Segoe UI"/>
              </a:rPr>
              <a:t>Medium bus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423160"/>
            <a:ext cx="3566160" cy="1005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6000" b="1" i="0">
                <a:solidFill>
                  <a:srgbClr val="00695C"/>
                </a:solidFill>
                <a:latin typeface="Calibri"/>
              </a:rPr>
              <a:t>807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83480" y="3749039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166360" y="3858768"/>
            <a:ext cx="39624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608320" y="3858768"/>
            <a:ext cx="39624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050280" y="3858768"/>
            <a:ext cx="39624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92240" y="3858768"/>
            <a:ext cx="39624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934200" y="3858768"/>
            <a:ext cx="39624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212080" y="4251959"/>
            <a:ext cx="274320" cy="274320"/>
          </a:xfrm>
          <a:prstGeom prst="ellipse">
            <a:avLst/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223759" y="4251959"/>
            <a:ext cx="274320" cy="274320"/>
          </a:xfrm>
          <a:prstGeom prst="ellipse">
            <a:avLst/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0" y="461772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  <a:latin typeface="Segoe UI"/>
              </a:rPr>
              <a:t>9-metre electric / midi bus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98348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Segoe UI"/>
              </a:rPr>
              <a:t>about 35 seats  ·  80% of the fleet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21040" y="1783080"/>
            <a:ext cx="3566160" cy="393192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321040" y="1783080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21040" y="1783080"/>
            <a:ext cx="356616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Segoe UI"/>
              </a:rPr>
              <a:t>Small bus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2423160"/>
            <a:ext cx="3566160" cy="1005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6000" b="1" i="0">
                <a:solidFill>
                  <a:srgbClr val="EF6C00"/>
                </a:solidFill>
                <a:latin typeface="Calibri"/>
              </a:rPr>
              <a:t>122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89719" y="3749039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372599" y="3858768"/>
            <a:ext cx="24384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662159" y="3858768"/>
            <a:ext cx="24384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951719" y="3858768"/>
            <a:ext cx="24384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0241279" y="3858768"/>
            <a:ext cx="24384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0530840" y="3858768"/>
            <a:ext cx="24384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418319" y="4251959"/>
            <a:ext cx="274320" cy="274320"/>
          </a:xfrm>
          <a:prstGeom prst="ellipse">
            <a:avLst/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0515599" y="4251959"/>
            <a:ext cx="274320" cy="274320"/>
          </a:xfrm>
          <a:prstGeom prst="ellipse">
            <a:avLst/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21040" y="461772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  <a:latin typeface="Segoe UI"/>
              </a:rPr>
              <a:t>minibus / tempo traveller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498348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Segoe UI"/>
              </a:rPr>
              <a:t>about 15 seats  ·  12% of the fleet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897880"/>
            <a:ext cx="108813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i="1">
                <a:solidFill>
                  <a:srgbClr val="757575"/>
                </a:solidFill>
                <a:latin typeface="Segoe UI"/>
              </a:rPr>
              <a:t>On trunk corridors the large and medium buses are kept to a balanced fifty-fifty mix, so neither size dominates a route.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5  ·  Fleet composition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3385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700" b="1" i="0">
                <a:solidFill>
                  <a:srgbClr val="00695C"/>
                </a:solidFill>
                <a:latin typeface="Calibri"/>
              </a:rPr>
              <a:t>The electric-bus backbone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757575"/>
                </a:solidFill>
                <a:latin typeface="Segoe UI"/>
              </a:rPr>
              <a:t>The plan is anchored on the existing Srinagar Smart City electric-bus routes.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2468880" cy="1600200"/>
          </a:xfrm>
          <a:prstGeom prst="roundRect">
            <a:avLst>
              <a:gd name="adj" fmla="val 10000"/>
            </a:avLst>
          </a:prstGeom>
          <a:solidFill>
            <a:srgbClr val="F5F6FA"/>
          </a:solidFill>
          <a:ln w="12700"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24688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600" b="1" i="0">
                <a:solidFill>
                  <a:srgbClr val="1A237E"/>
                </a:solidFill>
                <a:latin typeface="Calibri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86584"/>
            <a:ext cx="2468880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Segoe UI"/>
              </a:rPr>
              <a:t>Official Smart City</a:t>
            </a:r>
            <a:br/>
            <a:r>
              <a:t>electric-bus routes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08376"/>
            <a:ext cx="24688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50" b="0" i="1">
                <a:solidFill>
                  <a:srgbClr val="757575"/>
                </a:solidFill>
                <a:latin typeface="Segoe UI"/>
              </a:rPr>
              <a:t>already operating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783080"/>
            <a:ext cx="2468880" cy="1600200"/>
          </a:xfrm>
          <a:prstGeom prst="roundRect">
            <a:avLst>
              <a:gd name="adj" fmla="val 10000"/>
            </a:avLst>
          </a:prstGeom>
          <a:solidFill>
            <a:srgbClr val="F5F6FA"/>
          </a:solidFill>
          <a:ln w="1270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0" y="1874519"/>
            <a:ext cx="24688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600" b="1" i="0">
                <a:solidFill>
                  <a:srgbClr val="00695C"/>
                </a:solidFill>
                <a:latin typeface="Calibri"/>
              </a:rPr>
              <a:t>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386584"/>
            <a:ext cx="2468880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Segoe UI"/>
              </a:rPr>
              <a:t>Matching permits</a:t>
            </a:r>
            <a:br/>
            <a:r>
              <a:t>in the 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008376"/>
            <a:ext cx="24688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50" b="0" i="1">
                <a:solidFill>
                  <a:srgbClr val="757575"/>
                </a:solidFill>
                <a:latin typeface="Segoe UI"/>
              </a:rPr>
              <a:t>duplicate operators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1783080"/>
            <a:ext cx="2468880" cy="1600200"/>
          </a:xfrm>
          <a:prstGeom prst="roundRect">
            <a:avLst>
              <a:gd name="adj" fmla="val 10000"/>
            </a:avLst>
          </a:prstGeom>
          <a:solidFill>
            <a:srgbClr val="F5F6FA"/>
          </a:solidFill>
          <a:ln w="127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1874519"/>
            <a:ext cx="24688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600" b="1" i="0">
                <a:solidFill>
                  <a:srgbClr val="6A1B9A"/>
                </a:solidFill>
                <a:latin typeface="Calibri"/>
              </a:rPr>
              <a:t>8.0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386584"/>
            <a:ext cx="2468880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Segoe UI"/>
              </a:rPr>
              <a:t>Buses per route</a:t>
            </a:r>
            <a:br/>
            <a:r>
              <a:t>recommended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008376"/>
            <a:ext cx="24688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50" b="0" i="1">
                <a:solidFill>
                  <a:srgbClr val="757575"/>
                </a:solidFill>
                <a:latin typeface="Segoe UI"/>
              </a:rPr>
              <a:t>at a 15-minute service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783080"/>
            <a:ext cx="2011680" cy="1600200"/>
          </a:xfrm>
          <a:prstGeom prst="roundRect">
            <a:avLst>
              <a:gd name="adj" fmla="val 10000"/>
            </a:avLst>
          </a:prstGeom>
          <a:solidFill>
            <a:srgbClr val="F5F6FA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92640" y="1874519"/>
            <a:ext cx="20116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600" b="1" i="0">
                <a:solidFill>
                  <a:srgbClr val="2E7D32"/>
                </a:solidFill>
                <a:latin typeface="Calibri"/>
              </a:rPr>
              <a:t>+9.7%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386584"/>
            <a:ext cx="2011680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Segoe UI"/>
              </a:rPr>
              <a:t>Above the frequency-matched</a:t>
            </a:r>
            <a:br/>
            <a:r>
              <a:t>fleet benchmark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3008376"/>
            <a:ext cx="20116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50" b="0" i="1">
                <a:solidFill>
                  <a:srgbClr val="757575"/>
                </a:solidFill>
                <a:latin typeface="Segoe UI"/>
              </a:rPr>
              <a:t>comfortably within tolerance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08960" y="2578608"/>
            <a:ext cx="548640" cy="0"/>
          </a:xfrm>
          <a:prstGeom prst="line">
            <a:avLst/>
          </a:prstGeom>
          <a:ln w="31750">
            <a:solidFill>
              <a:srgbClr val="0069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126480" y="2578608"/>
            <a:ext cx="548640" cy="0"/>
          </a:xfrm>
          <a:prstGeom prst="line">
            <a:avLst/>
          </a:prstGeom>
          <a:ln w="31750">
            <a:solidFill>
              <a:srgbClr val="0069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144000" y="2578608"/>
            <a:ext cx="548640" cy="0"/>
          </a:xfrm>
          <a:prstGeom prst="line">
            <a:avLst/>
          </a:prstGeom>
          <a:ln w="31750">
            <a:solidFill>
              <a:srgbClr val="0069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3703320"/>
            <a:ext cx="11064240" cy="2286000"/>
          </a:xfrm>
          <a:prstGeom prst="roundRect">
            <a:avLst>
              <a:gd name="adj" fmla="val 10000"/>
            </a:avLst>
          </a:prstGeom>
          <a:solidFill>
            <a:srgbClr val="FFF8E1"/>
          </a:solidFill>
          <a:ln w="1270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3776472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F9A825"/>
                </a:solidFill>
                <a:latin typeface="Segoe UI"/>
              </a:rPr>
              <a:t>Operators absorbed into the new network — indicative compensation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114800"/>
            <a:ext cx="347472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 i="0">
                <a:solidFill>
                  <a:srgbClr val="F9A825"/>
                </a:solidFill>
                <a:latin typeface="Segoe UI"/>
              </a:rPr>
              <a:t>Operator 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114800"/>
            <a:ext cx="347472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 i="0">
                <a:solidFill>
                  <a:srgbClr val="F9A825"/>
                </a:solidFill>
                <a:latin typeface="Segoe UI"/>
              </a:rPr>
              <a:t>Permits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4114800"/>
            <a:ext cx="347472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 i="0">
                <a:solidFill>
                  <a:srgbClr val="F9A825"/>
                </a:solidFill>
                <a:latin typeface="Segoe UI"/>
              </a:rPr>
              <a:t>Recommended 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4114800"/>
            <a:ext cx="347472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 i="0">
                <a:solidFill>
                  <a:srgbClr val="F9A825"/>
                </a:solidFill>
                <a:latin typeface="Segoe UI"/>
              </a:rPr>
              <a:t>Indicative cost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425696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Segoe UI"/>
              </a:rPr>
              <a:t>Private minibus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425696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Segoe UI"/>
              </a:rPr>
              <a:t>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425696"/>
            <a:ext cx="3840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0" i="1">
                <a:solidFill>
                  <a:srgbClr val="212121"/>
                </a:solidFill>
                <a:latin typeface="Segoe UI"/>
              </a:rPr>
              <a:t>Buy back at about Rs 15 lakh each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4425696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Segoe UI"/>
              </a:rPr>
              <a:t>Rs 15.00 Cr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727448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Segoe UI"/>
              </a:rPr>
              <a:t>Small bus / tempo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727448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Segoe UI"/>
              </a:rPr>
              <a:t>34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4727448"/>
            <a:ext cx="3840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0" i="1">
                <a:solidFill>
                  <a:srgbClr val="212121"/>
                </a:solidFill>
                <a:latin typeface="Segoe UI"/>
              </a:rPr>
              <a:t>Reassign to last-mile feeder duty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4727448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Segoe UI"/>
              </a:rPr>
              <a:t>Rs 1.02 Cr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02920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Segoe UI"/>
              </a:rPr>
              <a:t>Large bus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5029200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5029200"/>
            <a:ext cx="3840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0" i="1">
                <a:solidFill>
                  <a:srgbClr val="212121"/>
                </a:solidFill>
                <a:latin typeface="Segoe UI"/>
              </a:rPr>
              <a:t>Absorb into the public fleet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502920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Segoe UI"/>
              </a:rPr>
              <a:t>Rs 0.50 Cr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330952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1" i="0">
                <a:solidFill>
                  <a:srgbClr val="212121"/>
                </a:solidFill>
                <a:latin typeface="Segoe UI"/>
              </a:rPr>
              <a:t>Total absorbed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5330952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1" i="0">
                <a:solidFill>
                  <a:srgbClr val="212121"/>
                </a:solidFill>
                <a:latin typeface="Segoe UI"/>
              </a:rPr>
              <a:t>135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5330952"/>
            <a:ext cx="3840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1" i="0">
                <a:solidFill>
                  <a:srgbClr val="212121"/>
                </a:solidFill>
                <a:latin typeface="Segoe UI"/>
              </a:rPr>
              <a:t>Mixed strategy, by consultation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5330952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1" i="0">
                <a:solidFill>
                  <a:srgbClr val="D32F2F"/>
                </a:solidFill>
                <a:latin typeface="Segoe UI"/>
              </a:rPr>
              <a:t>Rs 16.52 Cr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5669280"/>
            <a:ext cx="1051560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50" b="0" i="1">
                <a:solidFill>
                  <a:srgbClr val="757575"/>
                </a:solidFill>
                <a:latin typeface="Segoe UI"/>
              </a:rPr>
              <a:t>Costs are indicative estimates from peer-city averages — not a price commitment.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6  ·  Backbone and operator absorption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3385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700" b="1" i="0">
                <a:solidFill>
                  <a:srgbClr val="6A1B9A"/>
                </a:solidFill>
                <a:latin typeface="Calibri"/>
              </a:rPr>
              <a:t>How often buses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757575"/>
                </a:solidFill>
                <a:latin typeface="Segoe UI"/>
              </a:rPr>
              <a:t>Buses are spaced by wait time. No route in the plan waits longer than 35 minutes.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600200"/>
            <a:ext cx="7315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  <a:latin typeface="Segoe UI"/>
              </a:rPr>
              <a:t>0 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2916936" y="1828800"/>
            <a:ext cx="18288" cy="36576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0" y="1600200"/>
            <a:ext cx="7315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  <a:latin typeface="Segoe UI"/>
              </a:rPr>
              <a:t>10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4745736" y="1828800"/>
            <a:ext cx="18288" cy="36576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1600200"/>
            <a:ext cx="7315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  <a:latin typeface="Segoe UI"/>
              </a:rPr>
              <a:t>20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74536" y="1828800"/>
            <a:ext cx="18288" cy="36576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9" y="1600200"/>
            <a:ext cx="7315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  <a:latin typeface="Segoe UI"/>
              </a:rPr>
              <a:t>30 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03336" y="1828800"/>
            <a:ext cx="18288" cy="36576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19" y="1600200"/>
            <a:ext cx="7315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  <a:latin typeface="Segoe UI"/>
              </a:rPr>
              <a:t>40 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32136" y="1828800"/>
            <a:ext cx="18288" cy="36576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" y="1920240"/>
            <a:ext cx="2560320" cy="10515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  <a:latin typeface="Segoe UI"/>
              </a:rPr>
              <a:t>Smart City electric backbone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2103120"/>
            <a:ext cx="7315200" cy="685799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770632" y="2235708"/>
            <a:ext cx="310896" cy="420624"/>
          </a:xfrm>
          <a:prstGeom prst="roundRect">
            <a:avLst>
              <a:gd name="adj" fmla="val 10000"/>
            </a:avLst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513832" y="2235708"/>
            <a:ext cx="310896" cy="420624"/>
          </a:xfrm>
          <a:prstGeom prst="roundRect">
            <a:avLst>
              <a:gd name="adj" fmla="val 10000"/>
            </a:avLst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57031" y="2235708"/>
            <a:ext cx="310896" cy="420624"/>
          </a:xfrm>
          <a:prstGeom prst="roundRect">
            <a:avLst>
              <a:gd name="adj" fmla="val 10000"/>
            </a:avLst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24159" y="2029968"/>
            <a:ext cx="17373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 i="0">
                <a:solidFill>
                  <a:srgbClr val="00695C"/>
                </a:solidFill>
                <a:latin typeface="Segoe UI"/>
              </a:rPr>
              <a:t>every 15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59" y="2395728"/>
            <a:ext cx="17373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50" b="0" i="1">
                <a:solidFill>
                  <a:srgbClr val="757575"/>
                </a:solidFill>
                <a:latin typeface="Segoe UI"/>
              </a:rPr>
              <a:t>45 routes · the busiest corridors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200400"/>
            <a:ext cx="2560320" cy="10515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  <a:latin typeface="Segoe UI"/>
              </a:rPr>
              <a:t>Main trunk lines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080" y="3383280"/>
            <a:ext cx="7315200" cy="685799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770632" y="3515868"/>
            <a:ext cx="310896" cy="420624"/>
          </a:xfrm>
          <a:prstGeom prst="roundRect">
            <a:avLst>
              <a:gd name="adj" fmla="val 10000"/>
            </a:avLst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28232" y="3515868"/>
            <a:ext cx="310896" cy="420624"/>
          </a:xfrm>
          <a:prstGeom prst="roundRect">
            <a:avLst>
              <a:gd name="adj" fmla="val 10000"/>
            </a:avLst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424159" y="3310128"/>
            <a:ext cx="17373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  <a:latin typeface="Segoe UI"/>
              </a:rPr>
              <a:t>every 20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59" y="3675887"/>
            <a:ext cx="17373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50" b="0" i="1">
                <a:solidFill>
                  <a:srgbClr val="757575"/>
                </a:solidFill>
                <a:latin typeface="Segoe UI"/>
              </a:rPr>
              <a:t>85 routes · high-demand routes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4480560"/>
            <a:ext cx="2560320" cy="10515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  <a:latin typeface="Segoe UI"/>
              </a:rPr>
              <a:t>Feeders and lifeline routes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26080" y="4663440"/>
            <a:ext cx="7315200" cy="685799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2770632" y="4796028"/>
            <a:ext cx="310896" cy="420624"/>
          </a:xfrm>
          <a:prstGeom prst="roundRect">
            <a:avLst>
              <a:gd name="adj" fmla="val 10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171432" y="4796028"/>
            <a:ext cx="310896" cy="420624"/>
          </a:xfrm>
          <a:prstGeom prst="roundRect">
            <a:avLst>
              <a:gd name="adj" fmla="val 10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424159" y="4590288"/>
            <a:ext cx="17373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 i="0">
                <a:solidFill>
                  <a:srgbClr val="6A1B9A"/>
                </a:solidFill>
                <a:latin typeface="Segoe UI"/>
              </a:rPr>
              <a:t>every 35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59" y="4956048"/>
            <a:ext cx="17373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50" b="0" i="1">
                <a:solidFill>
                  <a:srgbClr val="757575"/>
                </a:solidFill>
                <a:latin typeface="Segoe UI"/>
              </a:rPr>
              <a:t>77 routes · neighbourhood &amp; rural links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5852160"/>
            <a:ext cx="114300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757575"/>
                </a:solidFill>
                <a:latin typeface="Segoe UI"/>
              </a:rPr>
              <a:t>Earlier drafts allowed one-hour waits on lifeline routes; those have been removed — the longest wait anywhere is now 35 minutes.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7  ·  Service frequency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3385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700" b="1" i="0">
                <a:solidFill>
                  <a:srgbClr val="1A237E"/>
                </a:solidFill>
                <a:latin typeface="Calibri"/>
              </a:rPr>
              <a:t>The methodology, stated in full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757575"/>
                </a:solidFill>
                <a:latin typeface="Segoe UI"/>
              </a:rPr>
              <a:t>Every number rests on a standard transit-planning formula. Here they are, written 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5486400" cy="1965960"/>
          </a:xfrm>
          <a:prstGeom prst="roundRect">
            <a:avLst>
              <a:gd name="adj" fmla="val 10000"/>
            </a:avLst>
          </a:prstGeom>
          <a:solidFill>
            <a:srgbClr val="F5F6FA"/>
          </a:solidFill>
          <a:ln w="12700"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655063"/>
            <a:ext cx="4937760" cy="10515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  <a:latin typeface="Segoe UI"/>
              </a:rPr>
              <a:t>Number of buses on a route = round-trip time divided by how often a bus runs, rounded up, plus a 15% spare allowance for maintenance and breakdowns.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706624"/>
            <a:ext cx="4937760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0" i="1">
                <a:solidFill>
                  <a:srgbClr val="212121"/>
                </a:solidFill>
                <a:latin typeface="Segoe UI"/>
              </a:rPr>
              <a:t>Buses  =  round-trip time ÷ wait between buses  (rounded up)  × 1.15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090672"/>
            <a:ext cx="493776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>
                <a:solidFill>
                  <a:srgbClr val="757575"/>
                </a:solidFill>
                <a:latin typeface="Segoe UI"/>
              </a:rPr>
              <a:t>Basis:  Vuchic (2005); Ceder (2007); spare allowance per industry practice.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486400" cy="1965960"/>
          </a:xfrm>
          <a:prstGeom prst="roundRect">
            <a:avLst>
              <a:gd name="adj" fmla="val 10000"/>
            </a:avLst>
          </a:prstGeom>
          <a:solidFill>
            <a:srgbClr val="F5F6FA"/>
          </a:solidFill>
          <a:ln w="1270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655063"/>
            <a:ext cx="4937760" cy="10515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0695C"/>
                </a:solidFill>
                <a:latin typeface="Segoe UI"/>
              </a:rPr>
              <a:t>Round-trip time = driving time both ways + time spent at stops + junction delays + peak-hour congestion + a recovery buffer to keep to schedule.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06624"/>
            <a:ext cx="4937760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0" i="1">
                <a:solidFill>
                  <a:srgbClr val="212121"/>
                </a:solidFill>
                <a:latin typeface="Segoe UI"/>
              </a:rPr>
              <a:t>round-trip time  =  driving + stops + junctions + congestion + recovery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090672"/>
            <a:ext cx="493776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>
                <a:solidFill>
                  <a:srgbClr val="757575"/>
                </a:solidFill>
                <a:latin typeface="Segoe UI"/>
              </a:rPr>
              <a:t>Basis:  Transit Capacity &amp; Quality of Service Manual (Transportation Research Board, 2013).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57600"/>
            <a:ext cx="5486400" cy="2331720"/>
          </a:xfrm>
          <a:prstGeom prst="roundRect">
            <a:avLst>
              <a:gd name="adj" fmla="val 10000"/>
            </a:avLst>
          </a:prstGeom>
          <a:solidFill>
            <a:srgbClr val="F5F6FA"/>
          </a:solidFill>
          <a:ln w="127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3803904"/>
            <a:ext cx="4937760" cy="141731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6A1B9A"/>
                </a:solidFill>
                <a:latin typeface="Segoe UI"/>
              </a:rPr>
              <a:t>Estimated daily riders = people within a short walk × the share who take the bus × trips per day × the route's share of a shared corridor × a calibration factor. It is computed automatically from open data, with no operator GPS feed needed.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221224"/>
            <a:ext cx="4937760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0" i="1">
                <a:solidFill>
                  <a:srgbClr val="212121"/>
                </a:solidFill>
                <a:latin typeface="Segoe UI"/>
              </a:rPr>
              <a:t>riders  =  walk-up population × bus share × trips × corridor share × factor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5605272"/>
            <a:ext cx="493776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>
                <a:solidFill>
                  <a:srgbClr val="757575"/>
                </a:solidFill>
                <a:latin typeface="Segoe UI"/>
              </a:rPr>
              <a:t>Basis:  Gravity / accessibility model — Hansen (1959); Ortúzar &amp; Willumsen (2011).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657600"/>
            <a:ext cx="5486400" cy="2331720"/>
          </a:xfrm>
          <a:prstGeom prst="roundRect">
            <a:avLst>
              <a:gd name="adj" fmla="val 10000"/>
            </a:avLst>
          </a:prstGeom>
          <a:solidFill>
            <a:srgbClr val="F5F6FA"/>
          </a:solidFill>
          <a:ln w="1270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3803904"/>
            <a:ext cx="4937760" cy="141731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F9A825"/>
                </a:solidFill>
                <a:latin typeface="Segoe UI"/>
              </a:rPr>
              <a:t>Composite Demand Index = half the population score + half the destinations score. Routes are then grouped into high, medium and low priority, which sets how often buses run on each.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221224"/>
            <a:ext cx="4937760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0" i="1">
                <a:solidFill>
                  <a:srgbClr val="212121"/>
                </a:solidFill>
                <a:latin typeface="Segoe UI"/>
              </a:rPr>
              <a:t>demand index  =  ½ population  +  ½ destinations  →  natural-breaks grouping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605272"/>
            <a:ext cx="493776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>
                <a:solidFill>
                  <a:srgbClr val="757575"/>
                </a:solidFill>
                <a:latin typeface="Segoe UI"/>
              </a:rPr>
              <a:t>Basis:  Natural-breaks classification — Jenks (1967).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8  ·  Formulas and their basis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3385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700" b="1" i="0">
                <a:solidFill>
                  <a:srgbClr val="00695C"/>
                </a:solidFill>
                <a:latin typeface="Calibri"/>
              </a:rPr>
              <a:t>Sources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757575"/>
                </a:solidFill>
                <a:latin typeface="Segoe UI"/>
              </a:rPr>
              <a:t>The data behind the plan, and the published research behind each method.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394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0695C"/>
                </a:solidFill>
                <a:latin typeface="Segoe UI"/>
              </a:rPr>
              <a:t>Population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11095"/>
            <a:ext cx="53949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WorldPop satellite-derived population grid (Tatem, 2017); Census of India 2011; Srinagar Smart City detailed project report.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07208"/>
            <a:ext cx="5394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0695C"/>
                </a:solidFill>
                <a:latin typeface="Segoe UI"/>
              </a:rPr>
              <a:t>Road network &amp; travel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18104"/>
            <a:ext cx="53949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OpenStreetMap road data; routing by the open-source routing engine OSRM (Luxen &amp; Vetter, 2011).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14216"/>
            <a:ext cx="5394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0695C"/>
                </a:solidFill>
                <a:latin typeface="Segoe UI"/>
              </a:rPr>
              <a:t>Destinations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25112"/>
            <a:ext cx="53949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Points of interest from OpenStreetMap (hospitals, colleges, markets, offices).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221224"/>
            <a:ext cx="5394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0695C"/>
                </a:solidFill>
                <a:latin typeface="Segoe UI"/>
              </a:rPr>
              <a:t>Walking distance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532120"/>
            <a:ext cx="53949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Four-hundred-metre walk catchment, about a five-minute walk (El-Geneidy et al., 2014).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1600200"/>
            <a:ext cx="5394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0695C"/>
                </a:solidFill>
                <a:latin typeface="Segoe UI"/>
              </a:rPr>
              <a:t>Buses &amp; frequency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1911095"/>
            <a:ext cx="53949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Vuchic, Urban Transit (2005); Ceder, Public Transit Planning and Operation (2007).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807208"/>
            <a:ext cx="5394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0695C"/>
                </a:solidFill>
                <a:latin typeface="Segoe UI"/>
              </a:rPr>
              <a:t>Cycle &amp; recovery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118104"/>
            <a:ext cx="53949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Transit Capacity and Quality of Service Manual, Transportation Research Board (2013).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4014216"/>
            <a:ext cx="5394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0695C"/>
                </a:solidFill>
                <a:latin typeface="Segoe UI"/>
              </a:rPr>
              <a:t>Demand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4325112"/>
            <a:ext cx="53949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Hansen, accessibility model (1959); Ortúzar &amp; Willumsen, Modelling Transport (2011).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5221224"/>
            <a:ext cx="5394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0695C"/>
                </a:solidFill>
                <a:latin typeface="Segoe UI"/>
              </a:rPr>
              <a:t>Ridership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5532120"/>
            <a:ext cx="53949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Srinagar Smart City electric-bus published ridership totals (an aggregate figure — no individual GPS or fare-card traces are used).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9  ·  Sources and references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3385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700" b="1" i="0">
                <a:solidFill>
                  <a:srgbClr val="1A237E"/>
                </a:solidFill>
                <a:latin typeface="Calibri"/>
              </a:rPr>
              <a:t>How the fleet compares with other Indian cities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757575"/>
                </a:solidFill>
                <a:latin typeface="Segoe UI"/>
              </a:rPr>
              <a:t>Buses per one thousand residents — the plan sits comfortably in the peer-city range.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3291840" cy="3383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Mysuru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0" y="1792224"/>
            <a:ext cx="1920240" cy="237744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35040" y="1737360"/>
            <a:ext cx="914400" cy="3383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0.35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21408"/>
            <a:ext cx="3291840" cy="3383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Bhopal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2176272"/>
            <a:ext cx="2359152" cy="237744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73952" y="2121408"/>
            <a:ext cx="914400" cy="3383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0.43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05456"/>
            <a:ext cx="3291840" cy="3383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Indore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2560320"/>
            <a:ext cx="2468879" cy="237744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79" y="2505456"/>
            <a:ext cx="914400" cy="3383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0.45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89504"/>
            <a:ext cx="3291840" cy="3383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Bengaluru (BMTC)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2944368"/>
            <a:ext cx="2798063" cy="237744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12864" y="2889504"/>
            <a:ext cx="914400" cy="3383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0.51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73552"/>
            <a:ext cx="3291840" cy="3383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 i="0">
                <a:solidFill>
                  <a:srgbClr val="00695C"/>
                </a:solidFill>
                <a:latin typeface="Segoe UI"/>
              </a:rPr>
              <a:t>Srinagar (this plan)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3328416"/>
            <a:ext cx="3346703" cy="237744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61504" y="3273552"/>
            <a:ext cx="914400" cy="3383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00695C"/>
                </a:solidFill>
                <a:latin typeface="Segoe UI"/>
              </a:rPr>
              <a:t>0.61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57600"/>
            <a:ext cx="3291840" cy="3383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Chandigarh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0" y="3712463"/>
            <a:ext cx="3566160" cy="237744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80960" y="3657600"/>
            <a:ext cx="914400" cy="3383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0.65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041648"/>
            <a:ext cx="3291840" cy="3383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Pune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60" y="4096511"/>
            <a:ext cx="4114800" cy="237744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0" y="4041648"/>
            <a:ext cx="914400" cy="3383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0.75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25696"/>
            <a:ext cx="3291840" cy="3383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Delhi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23360" y="4480559"/>
            <a:ext cx="4937759" cy="237744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52560" y="4425696"/>
            <a:ext cx="914400" cy="3383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0.90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809744"/>
            <a:ext cx="3291840" cy="3383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Mumbai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0" y="4864607"/>
            <a:ext cx="6583679" cy="237744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698480" y="4809744"/>
            <a:ext cx="914400" cy="3383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1.20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349240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757575"/>
                </a:solidFill>
                <a:latin typeface="Segoe UI"/>
              </a:rPr>
              <a:t>At 0.61 buses per thousand residents, Srinagar is closest to Chandigarh — comparable in size, terrain and scope.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10  ·  Peer-city comparison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3385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700" b="1" i="0">
                <a:solidFill>
                  <a:srgbClr val="6A1B9A"/>
                </a:solidFill>
                <a:latin typeface="Calibri"/>
              </a:rPr>
              <a:t>What is modelled today, and how it sharpens with more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757575"/>
                </a:solidFill>
                <a:latin typeface="Segoe UI"/>
              </a:rPr>
              <a:t>The method is sound today and improves as official datasets become available.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757575"/>
                </a:solidFill>
                <a:latin typeface="Segoe UI"/>
              </a:rP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737360"/>
            <a:ext cx="40233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757575"/>
                </a:solidFill>
                <a:latin typeface="Segoe UI"/>
              </a:rPr>
              <a:t>Modelled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737360"/>
            <a:ext cx="4206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757575"/>
                </a:solidFill>
                <a:latin typeface="Segoe UI"/>
              </a:rPr>
              <a:t>Sharper with official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137160" cy="50292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2286000" cy="6217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Walking distance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2240280"/>
            <a:ext cx="3840480" cy="530352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46120" y="2240280"/>
            <a:ext cx="3657600" cy="5303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Straight-line walk catchment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0" y="2505456"/>
            <a:ext cx="365760" cy="0"/>
          </a:xfrm>
          <a:prstGeom prst="line">
            <a:avLst/>
          </a:prstGeom>
          <a:ln w="25400">
            <a:solidFill>
              <a:srgbClr val="6A1B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98079" y="2240280"/>
            <a:ext cx="4206240" cy="530352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35240" y="2240280"/>
            <a:ext cx="3931920" cy="5303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Street-network walk paths around lakes and the river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953512"/>
            <a:ext cx="137160" cy="50292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2862072"/>
            <a:ext cx="2286000" cy="6217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Population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08960" y="2953512"/>
            <a:ext cx="3840480" cy="530352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46120" y="2953512"/>
            <a:ext cx="3657600" cy="5303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Satellite population grid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40880" y="3218688"/>
            <a:ext cx="365760" cy="0"/>
          </a:xfrm>
          <a:prstGeom prst="line">
            <a:avLst/>
          </a:prstGeom>
          <a:ln w="25400">
            <a:solidFill>
              <a:srgbClr val="0069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79" y="2953512"/>
            <a:ext cx="4206240" cy="530352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35240" y="2953512"/>
            <a:ext cx="3931920" cy="5303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Ward-level census counts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666744"/>
            <a:ext cx="137160" cy="50292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3575304"/>
            <a:ext cx="2286000" cy="6217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Travel time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08960" y="3666744"/>
            <a:ext cx="3840480" cy="530352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46120" y="3666744"/>
            <a:ext cx="3657600" cy="5303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Open routing-engine estimate with a congestion factor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40880" y="3931920"/>
            <a:ext cx="365760" cy="0"/>
          </a:xfrm>
          <a:prstGeom prst="line">
            <a:avLst/>
          </a:prstGeom>
          <a:ln w="25400">
            <a:solidFill>
              <a:srgbClr val="F9A82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498079" y="3666744"/>
            <a:ext cx="4206240" cy="530352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35240" y="3666744"/>
            <a:ext cx="3931920" cy="5303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Measured bus speeds from the field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379975"/>
            <a:ext cx="137160" cy="5029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4288536"/>
            <a:ext cx="2286000" cy="6217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Demand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08960" y="4379975"/>
            <a:ext cx="3840480" cy="530352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46120" y="4379975"/>
            <a:ext cx="3657600" cy="5303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Population-based estimate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040880" y="4645151"/>
            <a:ext cx="365760" cy="0"/>
          </a:xfrm>
          <a:prstGeom prst="line">
            <a:avLst/>
          </a:prstGeom>
          <a:ln w="25400">
            <a:solidFill>
              <a:srgbClr val="D32F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498079" y="4379975"/>
            <a:ext cx="4206240" cy="530352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35240" y="4379975"/>
            <a:ext cx="3931920" cy="5303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Fare-card ridership, route by route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093208"/>
            <a:ext cx="137160" cy="50292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7240" y="5001768"/>
            <a:ext cx="2286000" cy="6217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Tourist demand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108960" y="5093208"/>
            <a:ext cx="3840480" cy="530352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46120" y="5093208"/>
            <a:ext cx="3657600" cy="5303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Weighted tourist destinations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040880" y="5358384"/>
            <a:ext cx="365760" cy="0"/>
          </a:xfrm>
          <a:prstGeom prst="line">
            <a:avLst/>
          </a:prstGeom>
          <a:ln w="25400">
            <a:solidFill>
              <a:srgbClr val="1A2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498079" y="5093208"/>
            <a:ext cx="4206240" cy="530352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635240" y="5093208"/>
            <a:ext cx="3931920" cy="5303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Actual visitor-arrival figures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806440"/>
            <a:ext cx="137160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77240" y="5715000"/>
            <a:ext cx="2286000" cy="6217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Road closures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108960" y="5806440"/>
            <a:ext cx="3840480" cy="530352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246120" y="5806440"/>
            <a:ext cx="3657600" cy="5303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Not yet modelled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040880" y="6071616"/>
            <a:ext cx="365760" cy="0"/>
          </a:xfrm>
          <a:prstGeom prst="line">
            <a:avLst/>
          </a:prstGeom>
          <a:ln w="2540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7498079" y="5806440"/>
            <a:ext cx="4206240" cy="530352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635240" y="5806440"/>
            <a:ext cx="3931920" cy="5303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Highway-convoy and winter-closure calendar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11  ·  Today's model and its refinements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3385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700" b="1" i="0">
                <a:solidFill>
                  <a:srgbClr val="00695C"/>
                </a:solidFill>
                <a:latin typeface="Calibri"/>
              </a:rPr>
              <a:t>Data we would value from your office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757575"/>
                </a:solidFill>
                <a:latin typeface="Segoe UI"/>
              </a:rPr>
              <a:t>These refinements are limited by data availability, not by method. The concrete ask: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11475720" cy="292608"/>
          </a:xfrm>
          <a:prstGeom prst="roundRect">
            <a:avLst>
              <a:gd name="adj" fmla="val 10000"/>
            </a:avLst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99616"/>
            <a:ext cx="146304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Priority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499616"/>
            <a:ext cx="329184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499616"/>
            <a:ext cx="621792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Why it matters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1947672"/>
            <a:ext cx="1325880" cy="274319"/>
          </a:xfrm>
          <a:prstGeom prst="roundRect">
            <a:avLst>
              <a:gd name="adj" fmla="val 10000"/>
            </a:avLst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1947672"/>
            <a:ext cx="1325880" cy="27431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Most useful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1883664"/>
            <a:ext cx="329184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 i="0">
                <a:solidFill>
                  <a:srgbClr val="212121"/>
                </a:solidFill>
                <a:latin typeface="Segoe UI"/>
              </a:rPr>
              <a:t>Bus position records from current operators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2112264"/>
            <a:ext cx="3291840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50" b="0" i="1">
                <a:solidFill>
                  <a:srgbClr val="757575"/>
                </a:solidFill>
                <a:latin typeface="Segoe UI"/>
              </a:rPr>
              <a:t>A few weeks of location traces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1837944"/>
            <a:ext cx="6400800" cy="49377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Replaces the open routing-engine travel-time estimate with measured speeds.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368296"/>
            <a:ext cx="11475720" cy="493775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02920" y="2478024"/>
            <a:ext cx="1325880" cy="274319"/>
          </a:xfrm>
          <a:prstGeom prst="roundRect">
            <a:avLst>
              <a:gd name="adj" fmla="val 10000"/>
            </a:avLst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2478024"/>
            <a:ext cx="1325880" cy="27431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Valuable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2414016"/>
            <a:ext cx="329184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 i="0">
                <a:solidFill>
                  <a:srgbClr val="212121"/>
                </a:solidFill>
                <a:latin typeface="Segoe UI"/>
              </a:rPr>
              <a:t>Ward-level population from the latest census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2642616"/>
            <a:ext cx="3291840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50" b="0" i="1">
                <a:solidFill>
                  <a:srgbClr val="757575"/>
                </a:solidFill>
                <a:latin typeface="Segoe UI"/>
              </a:rPr>
              <a:t>Ward boundaries and counts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2368296"/>
            <a:ext cx="6400800" cy="49377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Sharpens the demand score and the priority grouping.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008376"/>
            <a:ext cx="1325880" cy="274319"/>
          </a:xfrm>
          <a:prstGeom prst="roundRect">
            <a:avLst>
              <a:gd name="adj" fmla="val 10000"/>
            </a:avLst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3008376"/>
            <a:ext cx="1325880" cy="27431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Valuable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2944367"/>
            <a:ext cx="329184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 i="0">
                <a:solidFill>
                  <a:srgbClr val="212121"/>
                </a:solidFill>
                <a:latin typeface="Segoe UI"/>
              </a:rPr>
              <a:t>Fare-card ridership, route by route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3172967"/>
            <a:ext cx="3291840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50" b="0" i="1">
                <a:solidFill>
                  <a:srgbClr val="757575"/>
                </a:solidFill>
                <a:latin typeface="Segoe UI"/>
              </a:rPr>
              <a:t>Daily boardings per route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2898647"/>
            <a:ext cx="6400800" cy="49377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Enables true route-level demand and frequency-induced ridership.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428999"/>
            <a:ext cx="11475720" cy="493775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02920" y="3538727"/>
            <a:ext cx="1325880" cy="274319"/>
          </a:xfrm>
          <a:prstGeom prst="roundRect">
            <a:avLst>
              <a:gd name="adj" fmla="val 10000"/>
            </a:avLst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3538727"/>
            <a:ext cx="1325880" cy="27431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Valuable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3474719"/>
            <a:ext cx="329184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 i="0">
                <a:solidFill>
                  <a:srgbClr val="212121"/>
                </a:solidFill>
                <a:latin typeface="Segoe UI"/>
              </a:rPr>
              <a:t>Tourist arrival figures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3703319"/>
            <a:ext cx="3291840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50" b="0" i="1">
                <a:solidFill>
                  <a:srgbClr val="757575"/>
                </a:solidFill>
                <a:latin typeface="Segoe UI"/>
              </a:rPr>
              <a:t>Daily arrivals for Gulmarg, Pahalgam, Sonamarg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3428999"/>
            <a:ext cx="6400800" cy="49377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Lets us size the seasonal tourist fleet on real numbers.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069080"/>
            <a:ext cx="1325880" cy="274319"/>
          </a:xfrm>
          <a:prstGeom prst="roundRect">
            <a:avLst>
              <a:gd name="adj" fmla="val 10000"/>
            </a:avLst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4069080"/>
            <a:ext cx="1325880" cy="27431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Future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4005071"/>
            <a:ext cx="329184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 i="0">
                <a:solidFill>
                  <a:srgbClr val="212121"/>
                </a:solidFill>
                <a:latin typeface="Segoe UI"/>
              </a:rPr>
              <a:t>Road-operability calendar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4233671"/>
            <a:ext cx="3291840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50" b="0" i="1">
                <a:solidFill>
                  <a:srgbClr val="757575"/>
                </a:solidFill>
                <a:latin typeface="Segoe UI"/>
              </a:rPr>
              <a:t>Convoy and winter-closure dates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0" y="3959351"/>
            <a:ext cx="6400800" cy="49377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Automatically stands down routes that cannot run in winter.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4553712"/>
            <a:ext cx="1325880" cy="274319"/>
          </a:xfrm>
          <a:prstGeom prst="roundRect">
            <a:avLst>
              <a:gd name="adj" fmla="val 10000"/>
            </a:avLst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02920" y="4553712"/>
            <a:ext cx="1325880" cy="27431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Future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4489703"/>
            <a:ext cx="329184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 i="0">
                <a:solidFill>
                  <a:srgbClr val="212121"/>
                </a:solidFill>
                <a:latin typeface="Segoe UI"/>
              </a:rPr>
              <a:t>Bridge-weight and road-width register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57400" y="4718303"/>
            <a:ext cx="3291840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50" b="0" i="1">
                <a:solidFill>
                  <a:srgbClr val="757575"/>
                </a:solidFill>
                <a:latin typeface="Segoe UI"/>
              </a:rPr>
              <a:t>Per-bridge limits and arterial widths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0" y="4443984"/>
            <a:ext cx="6400800" cy="49377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Keeps large buses off roads and bridges that cannot take them.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12  ·  Data request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3385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700" b="1" i="0">
                <a:solidFill>
                  <a:srgbClr val="1A237E"/>
                </a:solidFill>
                <a:latin typeface="Calibri"/>
              </a:rPr>
              <a:t>What this plan is — and what it is not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577840" cy="461772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577840" cy="54864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5778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WHAT IT IS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441448"/>
            <a:ext cx="320040" cy="3200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441448"/>
            <a:ext cx="3200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395728"/>
            <a:ext cx="4754880" cy="7132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207 active routes, ranked by demand and grouped into priority tiers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8688"/>
            <a:ext cx="320040" cy="3200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218688"/>
            <a:ext cx="3200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72968"/>
            <a:ext cx="4754880" cy="7132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Buses sized for a published frequency — every 15, 20 or 35 minutes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995928"/>
            <a:ext cx="320040" cy="3200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995928"/>
            <a:ext cx="3200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950208"/>
            <a:ext cx="4754880" cy="7132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Anchored on the Smart City electric-bus routes, checked against their ridership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773168"/>
            <a:ext cx="320040" cy="3200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773168"/>
            <a:ext cx="3200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727448"/>
            <a:ext cx="4754880" cy="7132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An operator workbook with absorption and indicative compensation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5550407"/>
            <a:ext cx="320040" cy="3200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5550407"/>
            <a:ext cx="3200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504688"/>
            <a:ext cx="4754880" cy="7132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A fully reproducible analysis — every number traces back to its source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600200"/>
            <a:ext cx="5577840" cy="4617720"/>
          </a:xfrm>
          <a:prstGeom prst="roundRect">
            <a:avLst>
              <a:gd name="adj" fmla="val 10000"/>
            </a:avLst>
          </a:prstGeom>
          <a:solidFill>
            <a:srgbClr val="FFEBEE"/>
          </a:solidFill>
          <a:ln w="12700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355080" y="1600200"/>
            <a:ext cx="5577840" cy="548640"/>
          </a:xfrm>
          <a:prstGeom prst="roundRect">
            <a:avLst>
              <a:gd name="adj" fmla="val 10000"/>
            </a:avLst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80" y="1600200"/>
            <a:ext cx="55778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WHAT IT IS NOT</a:t>
            </a:r>
          </a:p>
        </p:txBody>
      </p:sp>
      <p:sp>
        <p:nvSpPr>
          <p:cNvPr id="25" name="Oval 24"/>
          <p:cNvSpPr/>
          <p:nvPr/>
        </p:nvSpPr>
        <p:spPr>
          <a:xfrm>
            <a:off x="6583680" y="2441448"/>
            <a:ext cx="320040" cy="320040"/>
          </a:xfrm>
          <a:prstGeom prst="ellipse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2441448"/>
            <a:ext cx="3200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2395728"/>
            <a:ext cx="4754880" cy="7132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A passenger survey — on-the-ground validation is still advisable</a:t>
            </a:r>
          </a:p>
        </p:txBody>
      </p:sp>
      <p:sp>
        <p:nvSpPr>
          <p:cNvPr id="28" name="Oval 27"/>
          <p:cNvSpPr/>
          <p:nvPr/>
        </p:nvSpPr>
        <p:spPr>
          <a:xfrm>
            <a:off x="6583680" y="3218688"/>
            <a:ext cx="320040" cy="320040"/>
          </a:xfrm>
          <a:prstGeom prst="ellipse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3218688"/>
            <a:ext cx="3200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172968"/>
            <a:ext cx="4754880" cy="7132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A statement of the exact extra buses needed versus those running today</a:t>
            </a:r>
          </a:p>
        </p:txBody>
      </p:sp>
      <p:sp>
        <p:nvSpPr>
          <p:cNvPr id="31" name="Oval 30"/>
          <p:cNvSpPr/>
          <p:nvPr/>
        </p:nvSpPr>
        <p:spPr>
          <a:xfrm>
            <a:off x="6583680" y="3995928"/>
            <a:ext cx="320040" cy="320040"/>
          </a:xfrm>
          <a:prstGeom prst="ellipse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0" y="3995928"/>
            <a:ext cx="3200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3950208"/>
            <a:ext cx="4754880" cy="7132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Final, committed frequencies — these follow operator consultation</a:t>
            </a:r>
          </a:p>
        </p:txBody>
      </p:sp>
      <p:sp>
        <p:nvSpPr>
          <p:cNvPr id="34" name="Oval 33"/>
          <p:cNvSpPr/>
          <p:nvPr/>
        </p:nvSpPr>
        <p:spPr>
          <a:xfrm>
            <a:off x="6583680" y="4773168"/>
            <a:ext cx="320040" cy="320040"/>
          </a:xfrm>
          <a:prstGeom prst="ellipse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0" y="4773168"/>
            <a:ext cx="3200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727448"/>
            <a:ext cx="4754880" cy="7132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A compensation price — the figures are indicative estimates</a:t>
            </a:r>
          </a:p>
        </p:txBody>
      </p:sp>
      <p:sp>
        <p:nvSpPr>
          <p:cNvPr id="37" name="Oval 36"/>
          <p:cNvSpPr/>
          <p:nvPr/>
        </p:nvSpPr>
        <p:spPr>
          <a:xfrm>
            <a:off x="6583680" y="5550407"/>
            <a:ext cx="320040" cy="320040"/>
          </a:xfrm>
          <a:prstGeom prst="ellipse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0" y="5550407"/>
            <a:ext cx="3200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5504688"/>
            <a:ext cx="4754880" cy="7132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A tourist-demand model — that needs real arrival 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13  ·  Honest scope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1752</Words>
  <Application>Microsoft Office PowerPoint</Application>
  <PresentationFormat>Widescreen</PresentationFormat>
  <Paragraphs>272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maghav kamen</cp:lastModifiedBy>
  <cp:revision>2</cp:revision>
  <dcterms:created xsi:type="dcterms:W3CDTF">2013-01-27T09:14:16Z</dcterms:created>
  <dcterms:modified xsi:type="dcterms:W3CDTF">2026-06-02T09:30:04Z</dcterms:modified>
  <cp:category/>
</cp:coreProperties>
</file>