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B2DFDB"/>
                </a:solidFill>
                <a:latin typeface="Calibri"/>
              </a:rPr>
              <a:t>KASHMIR PUBLIC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Route Rationalisation Plan — v3.3.5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B2DFDB"/>
                </a:solidFill>
                <a:latin typeface="Segoe UI"/>
              </a:rPr>
              <a:t>Phase-1 Conservative · Engine v3.3.5 · SSCL Backbone + CHALO Calibration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08960"/>
            <a:ext cx="24688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ROUTES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24688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 i="0">
                <a:solidFill>
                  <a:srgbClr val="00695C"/>
                </a:solidFill>
                <a:latin typeface="Calibri"/>
              </a:rPr>
              <a:t>207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204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active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3108960"/>
            <a:ext cx="24688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3108960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31089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TOTAL FLEET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611880"/>
            <a:ext cx="24688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 i="0">
                <a:solidFill>
                  <a:srgbClr val="F9A825"/>
                </a:solidFill>
                <a:latin typeface="Calibri"/>
              </a:rPr>
              <a:t>988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89204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HPV+MPV+LPV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08960"/>
            <a:ext cx="24688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3108960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1089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HPV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11880"/>
            <a:ext cx="24688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 i="0">
                <a:solidFill>
                  <a:srgbClr val="6A1B9A"/>
                </a:solidFill>
                <a:latin typeface="Calibri"/>
              </a:rPr>
              <a:t>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89204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12-metre buses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3108960"/>
            <a:ext cx="246888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52560" y="3108960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31089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MPV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3611880"/>
            <a:ext cx="24688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600" b="1" i="0">
                <a:solidFill>
                  <a:srgbClr val="2E7D32"/>
                </a:solidFill>
                <a:latin typeface="Calibri"/>
              </a:rPr>
              <a:t>730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4892040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9-metre buses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Segoe UI"/>
              </a:rPr>
              <a:t>⚠ FOR PLANNING — Phase-1 calibrated against CHALO Apr 2026. Operator consultation required before deployment.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A237E"/>
                </a:solidFill>
                <a:latin typeface="Calibri"/>
              </a:rPr>
              <a:t>From v3.1 → v3.3.6 — Eight Audit Rounds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757575"/>
                </a:solidFill>
                <a:latin typeface="Segoe UI"/>
              </a:rPr>
              <a:t>Each version closes one set of defensible bugs. The plan numbers haven't changed shape, just sharpened.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1A237E"/>
                </a:solidFill>
                <a:latin typeface="Segoe UI"/>
              </a:rPr>
              <a:t>Initial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Kashmir fork — replaced Jammu CMP with 30 SSCL CHALO routes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37360" y="2583180"/>
            <a:ext cx="91440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28800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28800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00695C"/>
                </a:solidFill>
                <a:latin typeface="Segoe UI"/>
              </a:rPr>
              <a:t>Audit r1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RASTER bug · headway 45→15 · Jhelum bridge · congestion 2.2x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4680" y="2583180"/>
            <a:ext cx="91440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46120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6120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6A1B9A"/>
                </a:solidFill>
                <a:latin typeface="Segoe UI"/>
              </a:rPr>
              <a:t>Phase-1 r1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Spare ratio 1.15 · Phase-4 KPIs · SSCL conflict flag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2583180"/>
            <a:ext cx="91440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63440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63440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v3.3.1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F9A825"/>
                </a:solidFill>
                <a:latin typeface="Segoe UI"/>
              </a:rPr>
              <a:t>Phase-1 r2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Per-km cycle cap · typology mode-share · social prune 17→11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89320" y="2583180"/>
            <a:ext cx="91440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080760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080760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v3.3.2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00695C"/>
                </a:solidFill>
                <a:latin typeface="Segoe UI"/>
              </a:rPr>
              <a:t>Demand calib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Daily_Demand rewrite · capture-scale 0.18 · portable RASTER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06640" y="2583180"/>
            <a:ext cx="91439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498079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98079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79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v3.3.3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6A1B9A"/>
                </a:solidFill>
                <a:latin typeface="Segoe UI"/>
              </a:rPr>
              <a:t>Teammate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Tourist tagging 4→69 · Daily_Capacity formula fix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23959" y="2583180"/>
            <a:ext cx="91440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915400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915400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v3.3.4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15400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D32F2F"/>
                </a:solidFill>
                <a:latin typeface="Segoe UI"/>
              </a:rPr>
              <a:t>Honest fleet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SSCL empirical = floor not override · LPV restored · Red→0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241280" y="2583180"/>
            <a:ext cx="91439" cy="0"/>
          </a:xfrm>
          <a:prstGeom prst="line">
            <a:avLst/>
          </a:prstGeom>
          <a:ln w="19050">
            <a:solidFill>
              <a:srgbClr val="7575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332719" y="1828800"/>
            <a:ext cx="132588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332719" y="1828800"/>
            <a:ext cx="1325880" cy="41148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332719" y="1828800"/>
            <a:ext cx="13258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v3.3.5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19" y="2286000"/>
            <a:ext cx="1325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Segoe UI"/>
              </a:rPr>
              <a:t>Phase-1 conserv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2606040"/>
            <a:ext cx="1234439" cy="731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212121"/>
                </a:solidFill>
                <a:latin typeface="Segoe UI"/>
              </a:rPr>
              <a:t>HP 15→20 · MP 30→35 · fleet 1,113→988 (0.60/1000)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11480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  <a:latin typeface="Segoe UI"/>
              </a:rPr>
              <a:t>Each step closed bugs without changing the rationalisation maths. v3.3.5 is the recommended phase-1 plan; v3.3.4 stays available as the aspirational 15-min-everywhere variant.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2  ·  Audit lineage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00695C"/>
                </a:solidFill>
                <a:latin typeface="Calibri"/>
              </a:rPr>
              <a:t>How the engine builds the plan — 4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274320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2743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24688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 i="0">
                <a:solidFill>
                  <a:srgbClr val="1A237E"/>
                </a:solidFill>
                <a:latin typeface="Calibri"/>
              </a:rPr>
              <a:t>Ingestion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401568"/>
            <a:ext cx="137160" cy="13716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9183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613 permits · bbox clip 33.5–34.5°N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995928"/>
            <a:ext cx="137160" cy="13716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OSRM routing · Kashmir OSM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590288"/>
            <a:ext cx="137160" cy="13716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8055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30 SSCL routes injected as backbone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5184648"/>
            <a:ext cx="137160" cy="13716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749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POIs from OSM Overpass (3-tier)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3749039"/>
            <a:ext cx="182880" cy="0"/>
          </a:xfrm>
          <a:prstGeom prst="line">
            <a:avLst/>
          </a:prstGeom>
          <a:ln w="31750">
            <a:solidFill>
              <a:srgbClr val="1A2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83280" y="1737360"/>
            <a:ext cx="274320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83280" y="173736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737360"/>
            <a:ext cx="2743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31720"/>
            <a:ext cx="24688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 i="0">
                <a:solidFill>
                  <a:srgbClr val="00695C"/>
                </a:solidFill>
                <a:latin typeface="Calibri"/>
              </a:rPr>
              <a:t>Spatial scoring</a:t>
            </a:r>
          </a:p>
        </p:txBody>
      </p:sp>
      <p:sp>
        <p:nvSpPr>
          <p:cNvPr id="21" name="Oval 20"/>
          <p:cNvSpPr/>
          <p:nvPr/>
        </p:nvSpPr>
        <p:spPr>
          <a:xfrm>
            <a:off x="3611880" y="3401568"/>
            <a:ext cx="137160" cy="13716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329183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400 m walk catchments</a:t>
            </a:r>
          </a:p>
        </p:txBody>
      </p:sp>
      <p:sp>
        <p:nvSpPr>
          <p:cNvPr id="23" name="Oval 22"/>
          <p:cNvSpPr/>
          <p:nvPr/>
        </p:nvSpPr>
        <p:spPr>
          <a:xfrm>
            <a:off x="3611880" y="3995928"/>
            <a:ext cx="137160" cy="13716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388620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WorldPop 100 m raster (2024)</a:t>
            </a:r>
          </a:p>
        </p:txBody>
      </p:sp>
      <p:sp>
        <p:nvSpPr>
          <p:cNvPr id="25" name="Oval 24"/>
          <p:cNvSpPr/>
          <p:nvPr/>
        </p:nvSpPr>
        <p:spPr>
          <a:xfrm>
            <a:off x="3611880" y="4590288"/>
            <a:ext cx="137160" cy="13716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448055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POI gravity 250 m buffer</a:t>
            </a:r>
          </a:p>
        </p:txBody>
      </p:sp>
      <p:sp>
        <p:nvSpPr>
          <p:cNvPr id="27" name="Oval 26"/>
          <p:cNvSpPr/>
          <p:nvPr/>
        </p:nvSpPr>
        <p:spPr>
          <a:xfrm>
            <a:off x="3611880" y="5184648"/>
            <a:ext cx="137160" cy="137160"/>
          </a:xfrm>
          <a:prstGeom prst="ellipse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50749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Tourist boost ×1.3 on 69 routes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126480" y="3749039"/>
            <a:ext cx="182880" cy="0"/>
          </a:xfrm>
          <a:prstGeom prst="line">
            <a:avLst/>
          </a:prstGeom>
          <a:ln w="317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309360" y="1737360"/>
            <a:ext cx="274320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173736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737360"/>
            <a:ext cx="2743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PHASE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331720"/>
            <a:ext cx="24688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 i="0">
                <a:solidFill>
                  <a:srgbClr val="6A1B9A"/>
                </a:solidFill>
                <a:latin typeface="Calibri"/>
              </a:rPr>
              <a:t>Classification</a:t>
            </a:r>
            <a:br/>
            <a:r>
              <a:t>+ fleet sizing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3401568"/>
            <a:ext cx="137160" cy="13716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329183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CDI = Pop ×0.5 + POI ×0.5</a:t>
            </a:r>
          </a:p>
        </p:txBody>
      </p:sp>
      <p:sp>
        <p:nvSpPr>
          <p:cNvPr id="36" name="Oval 35"/>
          <p:cNvSpPr/>
          <p:nvPr/>
        </p:nvSpPr>
        <p:spPr>
          <a:xfrm>
            <a:off x="6537960" y="3995928"/>
            <a:ext cx="137160" cy="13716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88620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Jenks bands · HP/MP/LP</a:t>
            </a:r>
          </a:p>
        </p:txBody>
      </p:sp>
      <p:sp>
        <p:nvSpPr>
          <p:cNvPr id="38" name="Oval 37"/>
          <p:cNvSpPr/>
          <p:nvPr/>
        </p:nvSpPr>
        <p:spPr>
          <a:xfrm>
            <a:off x="6537960" y="4590288"/>
            <a:ext cx="137160" cy="13716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48055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Headways · 15 / 20 / 35 / 60 min</a:t>
            </a:r>
          </a:p>
        </p:txBody>
      </p:sp>
      <p:sp>
        <p:nvSpPr>
          <p:cNvPr id="40" name="Oval 39"/>
          <p:cNvSpPr/>
          <p:nvPr/>
        </p:nvSpPr>
        <p:spPr>
          <a:xfrm>
            <a:off x="6537960" y="5184648"/>
            <a:ext cx="137160" cy="137160"/>
          </a:xfrm>
          <a:prstGeom prst="ellipse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66560" y="50749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⌈Cycle / Headway × 1.15⌉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052560" y="3749039"/>
            <a:ext cx="182880" cy="0"/>
          </a:xfrm>
          <a:prstGeom prst="line">
            <a:avLst/>
          </a:prstGeom>
          <a:ln w="31750">
            <a:solidFill>
              <a:srgbClr val="6A1B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235440" y="1737360"/>
            <a:ext cx="274320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235440" y="173736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1737360"/>
            <a:ext cx="27432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PHASE 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2331720"/>
            <a:ext cx="24688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 i="0">
                <a:solidFill>
                  <a:srgbClr val="D32F2F"/>
                </a:solidFill>
                <a:latin typeface="Calibri"/>
              </a:rPr>
              <a:t>KPIs + export</a:t>
            </a:r>
          </a:p>
        </p:txBody>
      </p:sp>
      <p:sp>
        <p:nvSpPr>
          <p:cNvPr id="47" name="Oval 46"/>
          <p:cNvSpPr/>
          <p:nvPr/>
        </p:nvSpPr>
        <p:spPr>
          <a:xfrm>
            <a:off x="9464040" y="3401568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329183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Daily_Demand · Load_Flag · Subsidy_Risk</a:t>
            </a:r>
          </a:p>
        </p:txBody>
      </p:sp>
      <p:sp>
        <p:nvSpPr>
          <p:cNvPr id="49" name="Oval 48"/>
          <p:cNvSpPr/>
          <p:nvPr/>
        </p:nvSpPr>
        <p:spPr>
          <a:xfrm>
            <a:off x="9464040" y="3995928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0" y="388620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8/8 QC checks block export on fail</a:t>
            </a:r>
          </a:p>
        </p:txBody>
      </p:sp>
      <p:sp>
        <p:nvSpPr>
          <p:cNvPr id="51" name="Oval 50"/>
          <p:cNvSpPr/>
          <p:nvPr/>
        </p:nvSpPr>
        <p:spPr>
          <a:xfrm>
            <a:off x="9464040" y="4590288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2640" y="4480559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9-sheet RTO workbook + dashboards</a:t>
            </a:r>
          </a:p>
        </p:txBody>
      </p:sp>
      <p:sp>
        <p:nvSpPr>
          <p:cNvPr id="53" name="Oval 52"/>
          <p:cNvSpPr/>
          <p:nvPr/>
        </p:nvSpPr>
        <p:spPr>
          <a:xfrm>
            <a:off x="9464040" y="5184648"/>
            <a:ext cx="137160" cy="13716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0" y="5074920"/>
            <a:ext cx="219456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Segoe UI"/>
              </a:rPr>
              <a:t>Cross-validate vs CHALO live data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3  ·  Pipeline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6A1B9A"/>
                </a:solidFill>
                <a:latin typeface="Calibri"/>
              </a:rPr>
              <a:t>Network composition — 342 permits → 207 active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403684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403684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2043764" y="1554480"/>
            <a:ext cx="4407568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43764" y="1554480"/>
            <a:ext cx="4407568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157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51332" y="1554480"/>
            <a:ext cx="3789947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1332" y="1554480"/>
            <a:ext cx="3789947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60320"/>
            <a:ext cx="182880" cy="54864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7860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Upgraded to Trunk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39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Segoe UI"/>
              </a:rPr>
              <a:t>50 routes  ·  14.6% of 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560320"/>
            <a:ext cx="182880" cy="5486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57860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Retained as Feeder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34639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Segoe UI"/>
              </a:rPr>
              <a:t>157 routes  ·  45.9% of network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560320"/>
            <a:ext cx="182880" cy="54864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257860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Merged into Trunk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834639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Segoe UI"/>
              </a:rPr>
              <a:t>135 routes  ·  39.5% of 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12121"/>
                </a:solidFill>
                <a:latin typeface="Segoe UI"/>
              </a:rPr>
              <a:t>By priority band (active only)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23360"/>
            <a:ext cx="27432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Segoe UI"/>
              </a:rPr>
              <a:t>HP — High Priority (trunk)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06908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57575"/>
                </a:solidFill>
                <a:latin typeface="Segoe UI"/>
              </a:rPr>
              <a:t>15 / 20 min headway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4023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000" b="1" i="0">
                <a:solidFill>
                  <a:srgbClr val="00695C"/>
                </a:solidFill>
                <a:latin typeface="Calibri"/>
              </a:rPr>
              <a:t>130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617720"/>
            <a:ext cx="27432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6344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Segoe UI"/>
              </a:rPr>
              <a:t>MP — Medium Priority (feeder)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6344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57575"/>
                </a:solidFill>
                <a:latin typeface="Segoe UI"/>
              </a:rPr>
              <a:t>35 min headway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4617720"/>
            <a:ext cx="1645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000" b="1" i="0">
                <a:solidFill>
                  <a:srgbClr val="6A1B9A"/>
                </a:solidFill>
                <a:latin typeface="Calibri"/>
              </a:rPr>
              <a:t>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212080"/>
            <a:ext cx="274320" cy="4572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5780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Segoe UI"/>
              </a:rPr>
              <a:t>LP — Low Priority (lifeline)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25780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57575"/>
                </a:solidFill>
                <a:latin typeface="Segoe UI"/>
              </a:rPr>
              <a:t>60 min headway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5212080"/>
            <a:ext cx="1645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2000" b="1" i="0">
                <a:solidFill>
                  <a:srgbClr val="F9A825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4  ·  Network composition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9A825"/>
                </a:solidFill>
                <a:latin typeface="Calibri"/>
              </a:rPr>
              <a:t>Recommended fleet — 988 buses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757575"/>
                </a:solidFill>
                <a:latin typeface="Segoe UI"/>
              </a:rPr>
              <a:t>138 large (12 m HPV) + 730 medium (9 m MPV) + 120 small (LPV / tempo)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566160" cy="38404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566160" cy="54864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35661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HPV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35661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400" b="1" i="0">
                <a:solidFill>
                  <a:srgbClr val="1A237E"/>
                </a:solidFill>
                <a:latin typeface="Calibri"/>
              </a:rPr>
              <a:t>138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49039"/>
            <a:ext cx="3657600" cy="64008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85876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4480" y="385876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8840" y="385876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385876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3858768"/>
            <a:ext cx="5486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251959"/>
            <a:ext cx="274320" cy="274320"/>
          </a:xfrm>
          <a:prstGeom prst="ellipse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31920" y="4251959"/>
            <a:ext cx="274320" cy="274320"/>
          </a:xfrm>
          <a:prstGeom prst="ellipse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1772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12-metre standard low-floor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834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757575"/>
                </a:solidFill>
                <a:latin typeface="Segoe UI"/>
              </a:rPr>
              <a:t>50 seats  ·  14.0% of fleet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28800"/>
            <a:ext cx="3566160" cy="38404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0" y="1828800"/>
            <a:ext cx="3566160" cy="54864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828800"/>
            <a:ext cx="35661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MPV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468880"/>
            <a:ext cx="35661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400" b="1" i="0">
                <a:solidFill>
                  <a:srgbClr val="00695C"/>
                </a:solidFill>
                <a:latin typeface="Calibri"/>
              </a:rPr>
              <a:t>730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749039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60" y="3858768"/>
            <a:ext cx="3962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8320" y="3858768"/>
            <a:ext cx="3962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50280" y="3858768"/>
            <a:ext cx="3962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858768"/>
            <a:ext cx="3962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34200" y="3858768"/>
            <a:ext cx="3962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212080" y="4251959"/>
            <a:ext cx="274320" cy="274320"/>
          </a:xfrm>
          <a:prstGeom prst="ellipse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23759" y="4251959"/>
            <a:ext cx="274320" cy="274320"/>
          </a:xfrm>
          <a:prstGeom prst="ellipse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61772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9-metre SSCL e-bus / midi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9834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757575"/>
                </a:solidFill>
                <a:latin typeface="Segoe UI"/>
              </a:rPr>
              <a:t>35 seats  ·  73.9% of fleet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1828800"/>
            <a:ext cx="3566160" cy="38404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21040" y="1828800"/>
            <a:ext cx="3566160" cy="54864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1828800"/>
            <a:ext cx="356616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LPV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468880"/>
            <a:ext cx="35661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400" b="1" i="0">
                <a:solidFill>
                  <a:srgbClr val="D32F2F"/>
                </a:solidFill>
                <a:latin typeface="Calibri"/>
              </a:rPr>
              <a:t>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19" y="3749039"/>
            <a:ext cx="1828800" cy="64008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599" y="3858768"/>
            <a:ext cx="2438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2159" y="3858768"/>
            <a:ext cx="2438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951719" y="3858768"/>
            <a:ext cx="2438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241279" y="3858768"/>
            <a:ext cx="2438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30840" y="3858768"/>
            <a:ext cx="24384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418319" y="4251959"/>
            <a:ext cx="274320" cy="274320"/>
          </a:xfrm>
          <a:prstGeom prst="ellipse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515599" y="4251959"/>
            <a:ext cx="274320" cy="274320"/>
          </a:xfrm>
          <a:prstGeom prst="ellipse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61772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Tempo / minibus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4983480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757575"/>
                </a:solidFill>
                <a:latin typeface="Segoe UI"/>
              </a:rPr>
              <a:t>15 seats  ·  12.1% of fleet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5  ·  Fleet composition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00695C"/>
                </a:solidFill>
                <a:latin typeface="Calibri"/>
              </a:rPr>
              <a:t>SSCL backbone — 30 CHALO routes anchor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757575"/>
                </a:solidFill>
                <a:latin typeface="Segoe UI"/>
              </a:rPr>
              <a:t>Engine matches the 30 official SSCL e-bus routes to 45 permits in the existing-routes dataset (operator duplicates running the same corridor).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76272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A237E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Official SSCL</a:t>
            </a:r>
            <a:br/>
            <a:r>
              <a:t>CHALO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82111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Segoe UI"/>
              </a:rPr>
              <a:t>Apr 2026 ridership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10312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76272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00695C"/>
                </a:solidFill>
                <a:latin typeface="Calibri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432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Permits matched</a:t>
            </a:r>
            <a:br/>
            <a:r>
              <a:t>in permit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182111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Segoe UI"/>
              </a:rPr>
              <a:t>+15 duplicates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10312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176272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6A1B9A"/>
                </a:solidFill>
                <a:latin typeface="Calibri"/>
              </a:rPr>
              <a:t>8.04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Engine</a:t>
            </a:r>
            <a:br/>
            <a:r>
              <a:t>buses per route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182111"/>
            <a:ext cx="2468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Segoe UI"/>
              </a:rPr>
              <a:t>@ 15-min headway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0312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176272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2E7D32"/>
                </a:solidFill>
                <a:latin typeface="Calibri"/>
              </a:rPr>
              <a:t>+9.7%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74320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vs scaled CHALO</a:t>
            </a:r>
            <a:br/>
            <a:r>
              <a:t>fleet/route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82111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1">
                <a:solidFill>
                  <a:srgbClr val="757575"/>
                </a:solidFill>
                <a:latin typeface="Segoe UI"/>
              </a:rPr>
              <a:t>Within ±25% band 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08960" y="2834640"/>
            <a:ext cx="548640" cy="0"/>
          </a:xfrm>
          <a:prstGeom prst="line">
            <a:avLst/>
          </a:prstGeom>
          <a:ln w="317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2834640"/>
            <a:ext cx="548640" cy="0"/>
          </a:xfrm>
          <a:prstGeom prst="line">
            <a:avLst/>
          </a:prstGeom>
          <a:ln w="317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144000" y="2834640"/>
            <a:ext cx="548640" cy="0"/>
          </a:xfrm>
          <a:prstGeom prst="line">
            <a:avLst/>
          </a:prstGeom>
          <a:ln w="3175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40080" y="4206240"/>
            <a:ext cx="11064240" cy="201168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206240"/>
            <a:ext cx="164592" cy="2011680"/>
          </a:xfrm>
          <a:prstGeom prst="roundRect">
            <a:avLst>
              <a:gd name="adj" fmla="val 12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2976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9A825"/>
                </a:solidFill>
                <a:latin typeface="Segoe UI"/>
              </a:rPr>
              <a:t>Operator absorption — Phase-1 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7091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Operator class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7091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# permits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47091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Segoe UI"/>
              </a:rPr>
              <a:t>Est. 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02920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Private Minibus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502920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212121"/>
                </a:solidFill>
                <a:latin typeface="Segoe UI"/>
              </a:rPr>
              <a:t>Buyback @ ₹15 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502920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₹10.50 Cr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321808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LPV / Tempo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5321808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321808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212121"/>
                </a:solidFill>
                <a:latin typeface="Segoe UI"/>
              </a:rPr>
              <a:t>Last-mile reassignment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321808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₹0.96 Cr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614416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HPV Bus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614416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614416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212121"/>
                </a:solidFill>
                <a:latin typeface="Segoe UI"/>
              </a:rPr>
              <a:t>Roll into JKRTC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614416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₹1.50 Cr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907024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Total absorbed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907024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135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907024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Mixed strategy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5907024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D32F2F"/>
                </a:solidFill>
                <a:latin typeface="Segoe UI"/>
              </a:rPr>
              <a:t>₹12.96 Cr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6  ·  SSCL backbone + operator absorption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6A1B9A"/>
                </a:solidFill>
                <a:latin typeface="Calibri"/>
              </a:rPr>
              <a:t>Headway plan — phase-1 conservative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757575"/>
                </a:solidFill>
                <a:latin typeface="Segoe UI"/>
              </a:rPr>
              <a:t>Bus icons spaced proportional to wait time. Visual intuition over a 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417320"/>
            <a:ext cx="7315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  <a:latin typeface="Segoe UI"/>
              </a:rPr>
              <a:t>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1819656" y="1627632"/>
            <a:ext cx="18288" cy="4572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4740" y="1417320"/>
            <a:ext cx="7315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  <a:latin typeface="Segoe UI"/>
              </a:rPr>
              <a:t>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1356" y="1627632"/>
            <a:ext cx="18288" cy="4572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417320"/>
            <a:ext cx="7315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  <a:latin typeface="Segoe UI"/>
              </a:rPr>
              <a:t>30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1627632"/>
            <a:ext cx="18288" cy="4572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8140" y="1417320"/>
            <a:ext cx="7315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  <a:latin typeface="Segoe UI"/>
              </a:rPr>
              <a:t>45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34756" y="1627632"/>
            <a:ext cx="18288" cy="4572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0" y="1417320"/>
            <a:ext cx="7315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  <a:latin typeface="Segoe UI"/>
              </a:rPr>
              <a:t>60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06456" y="1627632"/>
            <a:ext cx="18288" cy="4572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691640"/>
            <a:ext cx="15544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SSCL backbone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169164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691640" y="1897380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63339" y="1897380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35040" y="1897380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06740" y="1897380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52760" y="1691640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Segoe UI"/>
              </a:rPr>
              <a:t>45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2080260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57575"/>
                </a:solidFill>
                <a:latin typeface="Segoe UI"/>
              </a:rPr>
              <a:t>SSCL e-bus design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542032"/>
            <a:ext cx="15544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Non-SSCL HP trunks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2542032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691640" y="2747772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87239" y="2747772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82839" y="2747772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52760" y="2542032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Segoe UI"/>
              </a:rPr>
              <a:t>85 routes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2930652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57575"/>
                </a:solidFill>
                <a:latin typeface="Segoe UI"/>
              </a:rPr>
              <a:t>Phase-1 conservative (was 15 in v3.3.4)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3392424"/>
            <a:ext cx="15544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MP feeders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3392424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691640" y="3598164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758939" y="3598164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3392424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Segoe UI"/>
              </a:rPr>
              <a:t>50 routes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3781044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57575"/>
                </a:solidFill>
                <a:latin typeface="Segoe UI"/>
              </a:rPr>
              <a:t>Peer-city feeder norm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242816"/>
            <a:ext cx="15544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Social-promoted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4242816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691640" y="4448556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06740" y="4448556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52760" y="4242816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F9A825"/>
                </a:solidFill>
                <a:latin typeface="Segoe UI"/>
              </a:rPr>
              <a:t>4 routes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52760" y="4631436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57575"/>
                </a:solidFill>
                <a:latin typeface="Segoe UI"/>
              </a:rPr>
              <a:t>Social_Flag LP→MP exceptions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5093208"/>
            <a:ext cx="155448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LP lifelines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28800" y="5093208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691640" y="5298948"/>
            <a:ext cx="274320" cy="36576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52760" y="5093208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D32F2F"/>
                </a:solidFill>
                <a:latin typeface="Segoe UI"/>
              </a:rPr>
              <a:t>23 routes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52760" y="5481828"/>
            <a:ext cx="1554480" cy="3886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57575"/>
                </a:solidFill>
                <a:latin typeface="Segoe UI"/>
              </a:rPr>
              <a:t>Inter-district / district-HQ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7  ·  Headway 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2E7D32"/>
                </a:solidFill>
                <a:latin typeface="Calibri"/>
              </a:rPr>
              <a:t>Quality signals — Phase-4 diagnostics &amp; CHALO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Load_Flag across 207 active routes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Green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28800"/>
            <a:ext cx="206733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92733" y="1874519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Amber_Under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2514600"/>
            <a:ext cx="4525175" cy="4572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1175" y="25603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9A825"/>
                </a:solidFill>
                <a:latin typeface="Segoe UI"/>
              </a:rPr>
              <a:t>197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Amber_Tight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200400"/>
            <a:ext cx="45720" cy="45720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461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D32F2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77639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Red_Overload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3886200"/>
            <a:ext cx="45720" cy="4572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39319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29200"/>
            <a:ext cx="6400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Segoe UI"/>
              </a:rPr>
              <a:t>Red_Overload = 0 means no SSCL route is under-provisioned at the target headway. v3.3.5 fleet-floor logic eliminated the 12 false Red signals seen in v3.3.3.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3716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Calibration vs CHALO (Apr 2026)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1783080"/>
            <a:ext cx="4663440" cy="4114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0" y="1783080"/>
            <a:ext cx="137160" cy="41148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1874519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Per-route fleet (SSCL)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167127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vs 7.33 scaled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1874519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8.04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1874519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+9.7%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65176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SSCL Daily_Demand_Pax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94436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vs 31.9 k obs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26517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32 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265176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+0.5%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4290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Buses / 1000 residents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372160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BMTC 0.51 / Chandigarh 0.65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42900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0.60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342900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420624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QC checks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449884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block export on fail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420624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8 / 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4206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4983479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Segoe UI"/>
              </a:rPr>
              <a:t>Red_Overload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527608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was 12 in v3.3.3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4983479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4983479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8  ·  Diagnostics + live calibration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A237E"/>
                </a:solidFill>
                <a:latin typeface="Calibri"/>
              </a:rPr>
              <a:t>Fleet density vs peer cities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757575"/>
                </a:solidFill>
                <a:latin typeface="Segoe UI"/>
              </a:rPr>
              <a:t>Buses per 1,000 residents — Srinagar lands between BMTC and Chandigarh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Mysuru KSRTC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0" y="1737360"/>
            <a:ext cx="1969476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1396" y="169164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Bhopal BCLL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2103120"/>
            <a:ext cx="2419643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1563" y="205740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Indore Atal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468880"/>
            <a:ext cx="2532184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104" y="242316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8892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BMTC Bengaluru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834640"/>
            <a:ext cx="2869809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1729" y="27889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5468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  <a:latin typeface="Segoe UI"/>
              </a:rPr>
              <a:t>Srinagar v3.3.5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3200400"/>
            <a:ext cx="3376246" cy="2286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8166" y="315468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00695C"/>
                </a:solidFill>
                <a:latin typeface="Segoe UI"/>
              </a:rPr>
              <a:t>0.60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2044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Chandigarh CTU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3566160"/>
            <a:ext cx="3657600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352044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8620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Pune PMPML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3931920"/>
            <a:ext cx="4220307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2227" y="388620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5196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Delhi DTC+cluster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297680"/>
            <a:ext cx="5064369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96289" y="425196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0.90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1772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Mumbai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0" y="4663440"/>
            <a:ext cx="6752492" cy="228600"/>
          </a:xfrm>
          <a:prstGeom prst="rect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84412" y="46177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Segoe UI"/>
              </a:rPr>
              <a:t>1.20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  <a:latin typeface="Segoe UI"/>
              </a:rPr>
              <a:t>Srinagar at 0.60 is the closest match to Chandigarh CTU (0.65) — comparable city size, comparable terrain, comparable scope.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9  ·  Peer-city benchmarks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D32F2F"/>
                </a:solidFill>
                <a:latin typeface="Calibri"/>
              </a:rPr>
              <a:t>Two service-level plans on the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12080" cy="4389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5212080" cy="59436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2120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v3.3.5 — Phase-1 (recommended)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000" b="1" i="0">
                <a:solidFill>
                  <a:srgbClr val="2E7D32"/>
                </a:solidFill>
                <a:latin typeface="Calibri"/>
              </a:rPr>
              <a:t>988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buses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1188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SSCL backbone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61188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88620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Non-SSCL trunks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8862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20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MP feeders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16052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35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348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LP lifelines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43484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60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vs current ~600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70916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+65%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8348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Buses / 1000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98348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0.60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25780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Calibration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2578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Segoe UI"/>
              </a:rPr>
              <a:t>+9.7%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600200"/>
            <a:ext cx="5212080" cy="4389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1600200"/>
            <a:ext cx="5212080" cy="59436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1600200"/>
            <a:ext cx="521208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v3.3.4 — Aspirational (phase-2)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286000"/>
            <a:ext cx="52120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6000" b="1" i="0">
                <a:solidFill>
                  <a:srgbClr val="D32F2F"/>
                </a:solidFill>
                <a:latin typeface="Calibri"/>
              </a:rPr>
              <a:t>1,113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24612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buses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61188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SSCL backbone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61188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15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388620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Non-SSCL trunks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8862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15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416052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MP feeders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416052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30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LP lifelines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443484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60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470916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vs current ~600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470916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+85%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498348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Buses / 1000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498348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0.67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525780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Calibration 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29800" y="52578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D32F2F"/>
                </a:solidFill>
                <a:latin typeface="Segoe UI"/>
              </a:rPr>
              <a:t>+9.7%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757575"/>
                </a:solidFill>
                <a:latin typeface="Segoe UI"/>
              </a:rPr>
              <a:t>Same engine, same data, same QC. Only the non-SSCL headway target differs. Year-1 commit → v3.3.5. Year-3 ambition → v3.3.4.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10  ·  Decision the IAS makes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6A1B9A"/>
                </a:solidFill>
                <a:latin typeface="Calibri"/>
              </a:rPr>
              <a:t>What's in Phase 1 vs what comes next (Phase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757575"/>
                </a:solidFill>
                <a:latin typeface="Segoe UI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69164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757575"/>
                </a:solidFill>
                <a:latin typeface="Segoe UI"/>
              </a:rPr>
              <a:t>Phase 1 (now)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691640"/>
            <a:ext cx="4206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757575"/>
                </a:solidFill>
                <a:latin typeface="Segoe UI"/>
              </a:rPr>
              <a:t>Phase 2 (target)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3716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22860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Walk catchment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94560"/>
            <a:ext cx="3840480" cy="53035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2240280"/>
            <a:ext cx="36576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400 m Euclidean buffer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459736"/>
            <a:ext cx="365760" cy="0"/>
          </a:xfrm>
          <a:prstGeom prst="line">
            <a:avLst/>
          </a:prstGeom>
          <a:ln w="25400">
            <a:solidFill>
              <a:srgbClr val="6A1B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79" y="2194560"/>
            <a:ext cx="4206240" cy="530352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2240280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OSMnx isochrone clipped against Dal/Anchar/Jhelum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137160" cy="5029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16352"/>
            <a:ext cx="22860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Population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2907792"/>
            <a:ext cx="3840480" cy="53035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953512"/>
            <a:ext cx="36576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WorldPop 2024 raster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40880" y="3172968"/>
            <a:ext cx="365760" cy="0"/>
          </a:xfrm>
          <a:prstGeom prst="line">
            <a:avLst/>
          </a:prstGeom>
          <a:ln w="25400">
            <a:solidFill>
              <a:srgbClr val="0069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98079" y="2907792"/>
            <a:ext cx="4206240" cy="530352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953512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Census 2021 ward + growth-adjusted corridors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21024"/>
            <a:ext cx="137160" cy="5029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529584"/>
            <a:ext cx="22860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Cycle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3621024"/>
            <a:ext cx="3840480" cy="53035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666744"/>
            <a:ext cx="36576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Virtual 500m stops + congestion×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40880" y="3886200"/>
            <a:ext cx="365760" cy="0"/>
          </a:xfrm>
          <a:prstGeom prst="line">
            <a:avLst/>
          </a:prstGeom>
          <a:ln w="25400">
            <a:solidFill>
              <a:srgbClr val="F9A82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498079" y="3621024"/>
            <a:ext cx="4206240" cy="530352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3666744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Field-timed stop dwell + GPS journey traces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34256"/>
            <a:ext cx="137160" cy="50292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242816"/>
            <a:ext cx="22860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Demand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4334256"/>
            <a:ext cx="3840480" cy="53035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46120" y="4379976"/>
            <a:ext cx="36576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Static buffer × mode × trips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40880" y="4599432"/>
            <a:ext cx="365760" cy="0"/>
          </a:xfrm>
          <a:prstGeom prst="line">
            <a:avLst/>
          </a:prstGeom>
          <a:ln w="25400">
            <a:solidFill>
              <a:srgbClr val="D3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498079" y="4334256"/>
            <a:ext cx="4206240" cy="530352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4379976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Demand elasticity (Mohring) + AFC validation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47488"/>
            <a:ext cx="137160" cy="5029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956048"/>
            <a:ext cx="22860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Tourist surge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08960" y="5047488"/>
            <a:ext cx="3840480" cy="53035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46120" y="5093208"/>
            <a:ext cx="36576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Tier-3 POI weights + ×1.3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40880" y="5312664"/>
            <a:ext cx="365760" cy="0"/>
          </a:xfrm>
          <a:prstGeom prst="line">
            <a:avLst/>
          </a:prstGeom>
          <a:ln w="25400">
            <a:solidFill>
              <a:srgbClr val="1A2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498079" y="5047488"/>
            <a:ext cx="4206240" cy="530352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5093208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Real arrival data from JKTDC / hotels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760720"/>
            <a:ext cx="13716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669280"/>
            <a:ext cx="22860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Segoe UI"/>
              </a:rPr>
              <a:t>Convoy / NH-44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08960" y="5760720"/>
            <a:ext cx="3840480" cy="530352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46120" y="5806440"/>
            <a:ext cx="36576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Not modelled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40880" y="6025896"/>
            <a:ext cx="36576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7498079" y="5760720"/>
            <a:ext cx="4206240" cy="530352"/>
          </a:xfrm>
          <a:prstGeom prst="roundRect">
            <a:avLst>
              <a:gd name="adj" fmla="val 12000"/>
            </a:avLst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35240" y="5806440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Segoe UI"/>
              </a:rPr>
              <a:t>Time-of-day operability mask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11  ·  Phase-1 → Phase-2 backlog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A237E"/>
                </a:solidFill>
                <a:latin typeface="Calibri"/>
              </a:rPr>
              <a:t>What this output is — and what it is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577840" cy="45720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 w="952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77840" cy="54864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WHAT IT IS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3288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3288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6888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207 active routes classified with HP / MP / LP bands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31012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1012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4612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Fleet sized for phase-1 conservative headways (15/20/35/60 min)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08736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8736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02336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30 SSCL backbone routes calibrated against CHALO Apr 2026 data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86460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6460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80060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9-sheet RTO workbook with operator absorption + buyback estimates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641848"/>
            <a:ext cx="320040" cy="3200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64184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7784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Reproducible pipeline — every number traces to a CSV row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691640"/>
            <a:ext cx="5577840" cy="4572000"/>
          </a:xfrm>
          <a:prstGeom prst="roundRect">
            <a:avLst>
              <a:gd name="adj" fmla="val 12000"/>
            </a:avLst>
          </a:prstGeom>
          <a:solidFill>
            <a:srgbClr val="FFEBEE"/>
          </a:solidFill>
          <a:ln w="9525">
            <a:solidFill>
              <a:srgbClr val="D3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691640"/>
            <a:ext cx="5577840" cy="548640"/>
          </a:xfrm>
          <a:prstGeom prst="roundRect">
            <a:avLst>
              <a:gd name="adj" fmla="val 12000"/>
            </a:avLst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691640"/>
            <a:ext cx="55778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WHAT IT IS NOT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0" y="2532888"/>
            <a:ext cx="320040" cy="32004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53288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46888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A ridership survey — field validation still required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310128"/>
            <a:ext cx="320040" cy="32004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31012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24612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A net-fleet-gap report — current ops verification needed</a:t>
            </a:r>
          </a:p>
        </p:txBody>
      </p:sp>
      <p:sp>
        <p:nvSpPr>
          <p:cNvPr id="31" name="Oval 30"/>
          <p:cNvSpPr/>
          <p:nvPr/>
        </p:nvSpPr>
        <p:spPr>
          <a:xfrm>
            <a:off x="6583680" y="4087368"/>
            <a:ext cx="320040" cy="32004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08736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02336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Final headway commitments — RTO consultation still pending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583680" y="4864608"/>
            <a:ext cx="320040" cy="32004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86460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0060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A buyback price commitment — figures are estimates per peer cities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0" y="5641848"/>
            <a:ext cx="320040" cy="320040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641848"/>
            <a:ext cx="32004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5577840"/>
            <a:ext cx="47548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Tourist demand model — surge data is Phase 2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  <a:latin typeface="Segoe UI"/>
              </a:rPr>
              <a:t>Slide 12  ·  Honest scope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B2DFDB"/>
                </a:solidFill>
                <a:latin typeface="Calibri"/>
              </a:rPr>
              <a:t>Recommended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Five asks for the IAS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231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Sign-off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24912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B2DFDB"/>
                </a:solidFill>
                <a:latin typeface="Segoe UI"/>
              </a:rPr>
              <a:t>Approve v3.3.5 conservative phase-1 plan at the Stage-1 review.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54680"/>
            <a:ext cx="548640" cy="548640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1089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Operator dialogue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410712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B2DFDB"/>
                </a:solidFill>
                <a:latin typeface="Segoe UI"/>
              </a:rPr>
              <a:t>Authorise consultation with All J&amp;K Transport Welfare Association.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840480"/>
            <a:ext cx="548640" cy="548640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7947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Phased rollout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96512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B2DFDB"/>
                </a:solidFill>
                <a:latin typeface="Segoe UI"/>
              </a:rPr>
              <a:t>Activate SSCL backbone + 20-min trunks first; expand on observed ridership.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4805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Monthly recalib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782312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B2DFDB"/>
                </a:solidFill>
                <a:latin typeface="Segoe UI"/>
              </a:rPr>
              <a:t>Re-run cross_evaluate vs CHALO monthly; recalibrate CAPTURE_SCALE if drift &gt; ±15%.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16636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Phase-2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468112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B2DFDB"/>
                </a:solidFill>
                <a:latin typeface="Segoe UI"/>
              </a:rPr>
              <a:t>Sanction next-FY work — OSMnx walksheds, demand elasticity, convoy mask.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Segoe UI"/>
              </a:rPr>
              <a:t>Engine v3.3.5 · Companion artefacts: RTO 9-sheet workbook · Headway PDF study guide · Live dashboard at bus-sathi-dashboard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