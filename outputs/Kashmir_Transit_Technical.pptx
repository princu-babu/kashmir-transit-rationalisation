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Kashmir Valley Transit Rationalisation Engine v3.3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Architecture, Methodology &amp; Results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Scope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route optimisation for Srinagar / Kashmir Valley.</a:t>
            </a:r>
          </a:p>
          <a:p>
            <a:r>
              <a:t>- 342 active in-scope routes within bounding box (33.5°-34.5° N, 74.4°-75.2° E)</a:t>
            </a:r>
          </a:p>
          <a:p>
            <a:r>
              <a:t>- SSCL Backbone: 30 hardcoded e-bus routes (15-min headways)</a:t>
            </a:r>
          </a:p>
          <a:p>
            <a:r>
              <a:t>- Addresses over-served corridors and transit deserts</a:t>
            </a:r>
          </a:p>
          <a:p>
            <a:r>
              <a:t>- Engine provides automated frequency planning and fleet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 Outputs (v3.2/3.3)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Generated Assets:</a:t>
            </a:r>
          </a:p>
          <a:p>
            <a:r>
              <a:t>- Route Frequency Plan (XLSX): 342 routes, fleet counts, headways</a:t>
            </a:r>
          </a:p>
          <a:p>
            <a:r>
              <a:t>- Master Transit Map (HTML): Interactive Folium map with POI/Trunk layers</a:t>
            </a:r>
          </a:p>
          <a:p>
            <a:r>
              <a:t>- Passenger Impact (CSV) &amp; Rationalisation Log (CSV)</a:t>
            </a:r>
          </a:p>
          <a:p>
            <a:r>
              <a:t>- GeoJSON network map for GIS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Directions &amp; Network 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Network Efficiency (12-month data calibration):</a:t>
            </a:r>
          </a:p>
          <a:p>
            <a:r>
              <a:t>- Deduplicated Population Served: 1,158,399 (69.8% of CMP 2024 total)</a:t>
            </a:r>
          </a:p>
          <a:p>
            <a:r>
              <a:t>- Active Fleet Required: 1,307 buses (Total in-scope: ~1,059)</a:t>
            </a:r>
          </a:p>
          <a:p>
            <a:r>
              <a:t>- Priority Bands: 134 High Priority (HP), 100 Medium Priority (MP), 3 Low (LP)</a:t>
            </a:r>
          </a:p>
          <a:p>
            <a:r>
              <a:t>- Merged/Absorbed: 105 redundant routes merged into Trunks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Data Ingestion &amp; Spatial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Phase 1 &amp; 2:</a:t>
            </a:r>
          </a:p>
          <a:p>
            <a:r>
              <a:t>- OSRM Routing: Bounding box truncation &amp; geometry extraction</a:t>
            </a:r>
          </a:p>
          <a:p>
            <a:r>
              <a:t>- Population Scoring: 400m walk catchments via WorldPop raster</a:t>
            </a:r>
          </a:p>
          <a:p>
            <a:r>
              <a:t>- POI Gravity (3-Tier): Year-round, Secondary, Seasonal (Tourist)</a:t>
            </a:r>
          </a:p>
          <a:p>
            <a:r>
              <a:t>- Seasonal Toggle: Winter mode zeroes Tier-3 tourist POIs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Route Classification &amp; Fleet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Pipeline Phase 3 &amp; 4:</a:t>
            </a:r>
          </a:p>
          <a:p>
            <a:r>
              <a:t>- Union-Find clustering for overlapping corridors (threshold=65%)</a:t>
            </a:r>
          </a:p>
          <a:p>
            <a:r>
              <a:t>- CDI (Composite Demand Index): Pop(0.5) + POI(0.5)</a:t>
            </a:r>
          </a:p>
          <a:p>
            <a:r>
              <a:t>- Fleet Allocation: ceil(Cycle_Time / Headway)</a:t>
            </a:r>
          </a:p>
          <a:p>
            <a:r>
              <a:t>- Congestion factors: 2.2x Downtown, 1.4x Peri-urban, 8-min Jhelum bridge penalty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v4 Horizons (Future Work)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Upgrades:</a:t>
            </a:r>
          </a:p>
          <a:p>
            <a:r>
              <a:t>- Network-graph walksheds (accounting for Jhelum/Lake barriers)</a:t>
            </a:r>
          </a:p>
          <a:p>
            <a:r>
              <a:t>- Tourist surge volume modelling</a:t>
            </a:r>
          </a:p>
          <a:p>
            <a:r>
              <a:t>- Demand elasticity (Mohring effect)</a:t>
            </a:r>
          </a:p>
          <a:p>
            <a:r>
              <a:t>- Per-route AFC 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