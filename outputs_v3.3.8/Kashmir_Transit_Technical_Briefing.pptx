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300"/>
              <a:t>Fleet mix (balanced 50/50 on trunks)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Fleet</c:v>
                </c:pt>
              </c:strCache>
            </c:strRef>
          </c:tx>
          <c:dPt>
            <c:idx val="0"/>
            <c:spPr>
              <a:solidFill>
                <a:srgbClr val="1565C0"/>
              </a:solidFill>
            </c:spPr>
          </c:dPt>
          <c:dPt>
            <c:idx val="1"/>
            <c:spPr>
              <a:solidFill>
                <a:srgbClr val="00695C"/>
              </a:solidFill>
            </c:spPr>
          </c:dPt>
          <c:dPt>
            <c:idx val="2"/>
            <c:spPr>
              <a:solidFill>
                <a:srgbClr val="EF6C00"/>
              </a:solidFill>
            </c:spPr>
          </c:dPt>
          <c:cat>
            <c:strRef>
              <c:f>Sheet1!$A$2:$A$4</c:f>
              <c:strCache>
                <c:ptCount val="3"/>
                <c:pt idx="0">
                  <c:v>HPV 12 m</c:v>
                </c:pt>
                <c:pt idx="1">
                  <c:v>MPV 9 m</c:v>
                </c:pt>
                <c:pt idx="2">
                  <c:v>LPV mini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170</c:v>
                </c:pt>
                <c:pt idx="1">
                  <c:v>799</c:v>
                </c:pt>
                <c:pt idx="2">
                  <c:v>84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1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Headways present (only 15 / 20 / 35)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Routes</c:v>
                </c:pt>
              </c:strCache>
            </c:strRef>
          </c:tx>
          <c:dPt>
            <c:idx val="0"/>
            <c:spPr>
              <a:solidFill>
                <a:srgbClr val="2E7D32"/>
              </a:solidFill>
            </c:spPr>
          </c:dPt>
          <c:dPt>
            <c:idx val="1"/>
            <c:spPr>
              <a:solidFill>
                <a:srgbClr val="00695C"/>
              </a:solidFill>
            </c:spPr>
          </c:dPt>
          <c:dPt>
            <c:idx val="2"/>
            <c:spPr>
              <a:solidFill>
                <a:srgbClr val="F9A825"/>
              </a:solidFill>
            </c:spPr>
          </c:dPt>
          <c:cat>
            <c:strRef>
              <c:f>Sheet1!$A$2:$A$4</c:f>
              <c:strCache>
                <c:ptCount val="3"/>
                <c:pt idx="0">
                  <c:v>15 min</c:v>
                </c:pt>
                <c:pt idx="1">
                  <c:v>20 min</c:v>
                </c:pt>
                <c:pt idx="2">
                  <c:v>35 min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</c:v>
                </c:pt>
                <c:pt idx="1">
                  <c:v>22</c:v>
                </c:pt>
                <c:pt idx="2">
                  <c:v>109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overlay val="0"/>
    </c:legend>
    <c:dispBlanksAs val="gap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FFFFFF"/>
                </a:solidFill>
              </a:rPr>
              <a:t>TECHNICAL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0"/>
            <a:ext cx="37490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</a:rPr>
              <a:t>Kashmir Valley</a:t>
            </a:r>
            <a:br/>
            <a:r>
              <a:t>Transit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2194560"/>
            <a:ext cx="7040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33333"/>
                </a:solidFill>
              </a:rPr>
              <a:t>Technical Briefing — v3.3.8</a:t>
            </a:r>
            <a:br/>
            <a:br/>
            <a:r>
              <a:t>Open-data pipeline, methodology, formulas and literature backing, for the engineering and data-review audience.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5989320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757575"/>
                </a:solidFill>
              </a:rPr>
              <a:t>Engine v3.3.8  •  June 2026  •  Phase-1 plan  •  35-min headway ceiling  •  balanced 50/50 trunk fleet  •  fully open-data &amp; reproducible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Scope &amp; open-data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68335" y="274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100% open / reproducible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2617470" cy="155448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1A237E"/>
                </a:solidFill>
              </a:rPr>
              <a:t>620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permits in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48989" y="1097280"/>
            <a:ext cx="2617470" cy="155448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00695C"/>
                </a:solidFill>
              </a:rPr>
              <a:t>33.5–34.5°N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Srinagar Valley bbox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5059" y="1097280"/>
            <a:ext cx="2617470" cy="155448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6A1B9A"/>
                </a:solidFill>
              </a:rPr>
              <a:t>5.11M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study-area residents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41130" y="1097280"/>
            <a:ext cx="2617470" cy="155448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2E7D32"/>
                </a:solidFill>
              </a:rPr>
              <a:t>4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open 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803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Population — WorldPop 100 m raster (cropped to study area); Census 2011 + Smart-City DPR baseline.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Points of interest — OpenStreetMap via the Overpass API, classified into a 3-tier vocabulary.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Road network &amp; travel time — OSRM (local Docker, Kashmir OSM extract) with a circuity fallback.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SSCL e-bus backbone — 30 published Srinagar Smart City routes injected as synthetic trunks.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No proprietary GPS / AFC feed is required — the whole pipeline runs on open data and is re-runnable.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2  •  Inputs are open data — anyone can reproduce the run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Pipeline architecture — four phases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965960"/>
            <a:ext cx="2585466" cy="310896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128016"/>
          <a:lstStyle/>
          <a:p>
            <a:pPr algn="ctr"/>
            <a:r>
              <a:rPr sz="1350" b="1" i="0">
                <a:solidFill>
                  <a:srgbClr val="00695C"/>
                </a:solidFill>
              </a:rPr>
              <a:t>1 · Ingestion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Column-alias loader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OSRM geometry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Bbox clip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SSCL backbone inject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051810" y="3374135"/>
            <a:ext cx="292608" cy="292608"/>
          </a:xfrm>
          <a:prstGeom prst="rightArrow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353562" y="1965960"/>
            <a:ext cx="2585466" cy="310896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128016"/>
          <a:lstStyle/>
          <a:p>
            <a:pPr algn="ctr"/>
            <a:r>
              <a:rPr sz="1350" b="1" i="0">
                <a:solidFill>
                  <a:srgbClr val="00695C"/>
                </a:solidFill>
              </a:rPr>
              <a:t>2 · Spatial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400 m walk catchments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WorldPop zonal stats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POI gravity (250 m)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Overlap clustering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48172" y="3374135"/>
            <a:ext cx="292608" cy="292608"/>
          </a:xfrm>
          <a:prstGeom prst="rightArrow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49924" y="1965960"/>
            <a:ext cx="2585466" cy="310896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128016"/>
          <a:lstStyle/>
          <a:p>
            <a:pPr algn="ctr"/>
            <a:r>
              <a:rPr sz="1350" b="1" i="0">
                <a:solidFill>
                  <a:srgbClr val="00695C"/>
                </a:solidFill>
              </a:rPr>
              <a:t>3 · Classify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CDI = ½Pop + ½POI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Jenks → HP/MP/LP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Social-obligation floor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SSCL → trunk/HP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844534" y="3374135"/>
            <a:ext cx="292608" cy="292608"/>
          </a:xfrm>
          <a:prstGeom prst="rightArrow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6286" y="1965960"/>
            <a:ext cx="2585466" cy="310896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128016"/>
          <a:lstStyle/>
          <a:p>
            <a:pPr algn="ctr"/>
            <a:r>
              <a:rPr sz="1350" b="1" i="0">
                <a:solidFill>
                  <a:srgbClr val="00695C"/>
                </a:solidFill>
              </a:rPr>
              <a:t>4 · Fleet + export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Cycle time → headway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Fleet = ⌈C/h⌉ × 1.15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HPV/MPV 50/50 split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CSV · maps · workbook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715000"/>
            <a:ext cx="11155680" cy="566928"/>
          </a:xfrm>
          <a:prstGeom prst="round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Demand KPIs are derived after fleet locks (no feedback loop) — classification stays demand-driven, not fleet-driven.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3  •  Deterministic 4-phase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Network result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97280"/>
            <a:ext cx="2617470" cy="141732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1A237E"/>
                </a:solidFill>
              </a:rPr>
              <a:t>172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active routes (T43/F129)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48989" y="1097280"/>
            <a:ext cx="2617470" cy="141732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00695C"/>
                </a:solidFill>
              </a:rPr>
              <a:t>1,053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total buses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5059" y="1097280"/>
            <a:ext cx="2617470" cy="141732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2E7D32"/>
                </a:solidFill>
              </a:rPr>
              <a:t>35 min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max wait, anywhere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41130" y="1097280"/>
            <a:ext cx="2617470" cy="141732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6A1B9A"/>
                </a:solidFill>
              </a:rPr>
              <a:t>37.8%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population covered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2788920"/>
          <a:ext cx="521208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309360" y="2788920"/>
          <a:ext cx="534924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4  •  Live from Rationalised_Routes_Kashmir_v3.csv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Methodology — cycle time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11155680" cy="1554480"/>
          </a:xfrm>
          <a:prstGeom prst="roundRect">
            <a:avLst/>
          </a:prstGeom>
          <a:solidFill>
            <a:srgbClr val="F5F6FA"/>
          </a:solidFill>
          <a:ln w="15875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 i="0">
                <a:solidFill>
                  <a:srgbClr val="00695C"/>
                </a:solidFill>
              </a:rPr>
              <a:t>Cycle = 2 × OSRM running time + stop dwell + junction/turn penalty + congestion × + bridge queue + recovery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333333"/>
                </a:solidFill>
              </a:rPr>
              <a:t>Why:  round-trip running time plus a recovery/layover allowance absorbs traffic variability and keeps the schedule honest; the ×2.2 downtown congestion multiplier and +8 min Jhelum-bridge queue reflect observed peak conditions.</a:t>
            </a:r>
          </a:p>
          <a:p>
            <a:pPr>
              <a:spcBef>
                <a:spcPts val="300"/>
              </a:spcBef>
            </a:pPr>
            <a:r>
              <a:rPr sz="1050" b="0" i="1">
                <a:solidFill>
                  <a:srgbClr val="757575"/>
                </a:solidFill>
              </a:rPr>
              <a:t>Source:  TCQSM (TRB 2013); Vuchic (2005).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718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Running time comes from OSRM on the real road graph — not straight-line distance.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Dwell = estimated stops × 0.5 min (≈30 s/stop); junction &amp; sharp-turn penalties added per geometry.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A per-km sanity cap clips OSRM glitches on long inter-district highways.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Recovery time is what lets a published headway actually hold in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5  •  compute_cycle_times()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Methodology — headway &amp; fleet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11155680" cy="1463040"/>
          </a:xfrm>
          <a:prstGeom prst="roundRect">
            <a:avLst/>
          </a:prstGeom>
          <a:solidFill>
            <a:srgbClr val="F5F6FA"/>
          </a:solidFill>
          <a:ln w="15875"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 i="0">
                <a:solidFill>
                  <a:srgbClr val="1A237E"/>
                </a:solidFill>
              </a:rPr>
              <a:t>Fleet  N  =  ⌈ Cycle time ÷ Headway ⌉  ×  spare ratio (1.15)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333333"/>
                </a:solidFill>
              </a:rPr>
              <a:t>Why:  to run a bus every h minutes on a route whose round trip takes C minutes you need ⌈C/h⌉ vehicles; the 15% spare ratio covers maintenance, breakdown rotation and depot reserve.</a:t>
            </a:r>
          </a:p>
          <a:p>
            <a:pPr>
              <a:spcBef>
                <a:spcPts val="300"/>
              </a:spcBef>
            </a:pPr>
            <a:r>
              <a:rPr sz="1050" b="0" i="1">
                <a:solidFill>
                  <a:srgbClr val="757575"/>
                </a:solidFill>
              </a:rPr>
              <a:t>Source:  Vuchic (2005); Ceder (2007); spare ratio per APTA practice.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788920"/>
            <a:ext cx="11155680" cy="1463040"/>
          </a:xfrm>
          <a:prstGeom prst="roundRect">
            <a:avLst/>
          </a:prstGeom>
          <a:solidFill>
            <a:srgbClr val="F5F6FA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 i="0">
                <a:solidFill>
                  <a:srgbClr val="2E7D32"/>
                </a:solidFill>
              </a:rPr>
              <a:t>Headway  h  ≤  35 min  (ceiling)   ·   SSCL backbone 15 min   ·   HP trunks 20 min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333333"/>
                </a:solidFill>
              </a:rPr>
              <a:t>Why:  a hard service-quality ceiling guarantees no rider waits more than 35 minutes; trunk targets follow demand and SSCL's own published design frequency.</a:t>
            </a:r>
          </a:p>
          <a:p>
            <a:pPr>
              <a:spcBef>
                <a:spcPts val="300"/>
              </a:spcBef>
            </a:pPr>
            <a:r>
              <a:rPr sz="1050" b="0" i="1">
                <a:solidFill>
                  <a:srgbClr val="757575"/>
                </a:solidFill>
              </a:rPr>
              <a:t>Source:  TCQSM Quality-of-Service framework (TRB 2013).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2628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Trunk vehicle split is balanced 50/50 HPV/MPV — neither class dominates a corridor (RTO ask).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SSCL empirical fleet is treated as a floor, not a cap: the formula can raise it where the cycle demands.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6  •  step8/step9 fleet &amp; vehicle split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Methodology — automatic demand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11155680" cy="1554480"/>
          </a:xfrm>
          <a:prstGeom prst="roundRect">
            <a:avLst/>
          </a:prstGeom>
          <a:solidFill>
            <a:srgbClr val="F5F6FA"/>
          </a:solidFill>
          <a:ln w="1587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 i="0">
                <a:solidFill>
                  <a:srgbClr val="6A1B9A"/>
                </a:solidFill>
              </a:rPr>
              <a:t>Daily demand = Walkshed pop × mode share × trip rate × corridor share × capture scale (0.18)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333333"/>
                </a:solidFill>
              </a:rPr>
              <a:t>Why:  a gravity/accessibility estimate from open data — population within a 400 m walk, scaled by realistic mode share and trip rate, then apportioned across competing routes by relative frequency.</a:t>
            </a:r>
          </a:p>
          <a:p>
            <a:pPr>
              <a:spcBef>
                <a:spcPts val="300"/>
              </a:spcBef>
            </a:pPr>
            <a:r>
              <a:rPr sz="1050" b="0" i="1">
                <a:solidFill>
                  <a:srgbClr val="757575"/>
                </a:solidFill>
              </a:rPr>
              <a:t>Source:  Hansen (1959); Ortúzar &amp; Willumsen (2011); 400 m per El-Geneidy et al. (2014).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718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Fully automatic and open-data driven — it needs no live GPS or AFC feed from any operator app.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The 0.18 capture scalar was calibrated ONCE against SSCL/CHALO published annual ridership totals (an aggregate public figure — not GPS traces), and is a fixed constant thereafter.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Sanity check: engine SSCL daily demand 26,816 vs published ≈ 31,869 (+-16%, within band).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Fleet sizing is independent of this demand figure — supply is sized to the target service level.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7  •  compute_phase4_metrics() — open-data demand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Methodology — classification (CDI + Jenks)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11155680" cy="1463040"/>
          </a:xfrm>
          <a:prstGeom prst="roundRect">
            <a:avLst/>
          </a:prstGeom>
          <a:solidFill>
            <a:srgbClr val="F5F6FA"/>
          </a:solidFill>
          <a:ln w="15875"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 i="0">
                <a:solidFill>
                  <a:srgbClr val="1A237E"/>
                </a:solidFill>
              </a:rPr>
              <a:t>Final CDI = 0.50 × Population score + 0.50 × POI gravity score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333333"/>
                </a:solidFill>
              </a:rPr>
              <a:t>Why:  a composite demand index blends who lives near the route with what destinations it reaches; Road_Multiplier is only a tie-breaker near a band edge, never a multiplier on CDI.</a:t>
            </a:r>
          </a:p>
          <a:p>
            <a:pPr>
              <a:spcBef>
                <a:spcPts val="300"/>
              </a:spcBef>
            </a:pPr>
            <a:r>
              <a:rPr sz="1050" b="0" i="1">
                <a:solidFill>
                  <a:srgbClr val="757575"/>
                </a:solidFill>
              </a:rPr>
              <a:t>Source:  Gravity model: Hansen (1959). Banding: Jenks natural breaks (1967).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834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Jenks natural breaks split the CDI distribution into High / Medium / Low priority bands.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SSCL backbone routes bypass classification — forced to trunk / HP at a 15-min target.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Social-obligation routes (211 flagged) get an LP→MP floor: hospitals, KP townships, women's colleges.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8  •  step4a/step5 classification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Calibration &amp; quality control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88720"/>
          <a:ext cx="111556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Check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33333"/>
                          </a:solidFill>
                        </a:rPr>
                        <a:t>Per-route SSCL fleet vs headway-scaled published CHALO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+9.7%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within ±25%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33333"/>
                          </a:solidFill>
                        </a:rPr>
                        <a:t>SSCL daily demand vs published aggregate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+-16%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within ±15%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33333"/>
                          </a:solidFill>
                        </a:rPr>
                        <a:t>Automated QC checks (block export on fail)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8/8 passing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8/8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33333"/>
                          </a:solidFill>
                        </a:rPr>
                        <a:t>Red_Overload routes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33333"/>
                          </a:solidFill>
                        </a:rPr>
                        <a:t>Route codes assigned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342 / 342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all coded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02920" y="5715000"/>
            <a:ext cx="11155680" cy="566928"/>
          </a:xfrm>
          <a:prstGeom prst="round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Calibration uses CHALO's PUBLISHED ridership totals only — the model itself needs no live feed.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9  •  run_all_qc_checks() + cross_evaluate.py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Known limitations (v4 backlog)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1.  Euclidean walksheds over-count near Dal/Anchar/Hokersar lakes &amp; the Jhelum (walking barriers).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2.  Binary winter toggle — full 4-season stratification not yet modelled.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3.  Tourist surge captured via Tier-3 POI weights, not actual arrival counts.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4.  Military / convoy operability windows on NH-44 not yet subtracted.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5.  No demand elasticity (Mohring) — Load_Ratio assumes today's ridership at improved frequency.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6.  Per-route AFC validation still manual; calibration is system-level.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10  •  Honest limitations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Sources &amp; methodology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333333"/>
                </a:solidFill>
              </a:rPr>
              <a:t>Every formula and parameter in this plan is grounded in the standard transit-planning literature: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5440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 b="1" i="0">
                <a:solidFill>
                  <a:srgbClr val="1A237E"/>
                </a:solidFill>
              </a:rPr>
              <a:t>Fleet sizing  N = ⌈C / h⌉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Vuchic, V. R. (2005) Urban Transit: Operations, Planning &amp; Economics, Wiley; Ceder, A. (2007) Public Transit Planning and Operation, Elsevier.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1A237E"/>
                </a:solidFill>
              </a:rPr>
              <a:t>Cycle time, dwell &amp; recovery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TRB (2013) Transit Capacity &amp; Quality of Service Manual, 3rd ed. (TCRP Report 165).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1A237E"/>
                </a:solidFill>
              </a:rPr>
              <a:t>Spare ratio (10–20%)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APTA standard operating practice; TCQSM recovery/layover guidance.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1A237E"/>
                </a:solidFill>
              </a:rPr>
              <a:t>Frequency / headway LOS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TCQSM (2013) Ch.5 Quality of Service; Ceder (2007) frequency-setting methods.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1A237E"/>
                </a:solidFill>
              </a:rPr>
              <a:t>Demand — gravity / accessibility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Hansen, W. (1959) How Accessibility Shapes Land Use, JAPA 25(2); Ortúzar &amp; Willumsen (2011) Modelling Transport, 4th ed., Wiley.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1A237E"/>
                </a:solidFill>
              </a:rPr>
              <a:t>400 m walk catchment (~5 min)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El-Geneidy et al. (2014) New evidence on walking distances to transit, Transportation 41.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508760"/>
            <a:ext cx="5440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 b="1" i="0">
                <a:solidFill>
                  <a:srgbClr val="1A237E"/>
                </a:solidFill>
              </a:rPr>
              <a:t>Natural-breaks classification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Jenks, G. (1967) The Data Model Concept in Statistical Mapping, Int. Yearbook of Cartography.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1A237E"/>
                </a:solidFill>
              </a:rPr>
              <a:t>Population raster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Tatem, A. (2017) WorldPop, open data for spatial demography, Scientific Data 4:170004; Census of India 2011 + Srinagar Smart City DPR.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1A237E"/>
                </a:solidFill>
              </a:rPr>
              <a:t>Road network &amp; routing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Luxen &amp; Vetter (2011) Real-time routing with OpenStreetMap data, ACM SIGSPATIAL (OSRM).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1A237E"/>
                </a:solidFill>
              </a:rPr>
              <a:t>Points of interest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OpenStreetMap contributors (2024), via the Overpass API.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1A237E"/>
                </a:solidFill>
              </a:rPr>
              <a:t>Ridership calibration anchor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SSCL / CHALO Srinagar e-bus published ridership, May 2025–Apr 2026 (aggregate totals only — no GPS/AFC traces used).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References  •  transit-planning literature backing each design choice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Reproducible &amp; versioned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Deliverables (outputs_v3.3.8/):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  • Kashmir_Route_Frequency_Plan_v3.3.8_RTO.xlsx (9-sheet) + _RTO_Pretty.xlsx (bus schedule)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  • Master_Transit_Map_Kashmir_v3.html + 192 per-route maps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  • Rationalised_Routes_Kashmir_v3.csv / .geojson  ·  Rationalisation_Log  ·  Passenger_Impact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 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Every number traces back to a CSV row and an open-data source.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Source: github.com/Princu-Babu/kashmir-transit-rationalisation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12  •  Deliverables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