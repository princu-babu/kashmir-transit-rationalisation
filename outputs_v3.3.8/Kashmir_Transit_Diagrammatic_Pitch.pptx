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1" i="0">
                <a:solidFill>
                  <a:srgbClr val="B2DFDB"/>
                </a:solidFill>
                <a:latin typeface="Calibri"/>
              </a:rPr>
              <a:t>KASHMIR VALLEY PUBLIC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Route Rationalisation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10515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B2DFDB"/>
                </a:solidFill>
                <a:latin typeface="Segoe UI"/>
              </a:rPr>
              <a:t>A data-driven service plan for the Srinagar Valley bus network, built on the Srinagar Smart City electric-bus backbone.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108960"/>
            <a:ext cx="24688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3108960"/>
            <a:ext cx="2468880" cy="411480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ACTIVE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24688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 i="0">
                <a:solidFill>
                  <a:srgbClr val="00695C"/>
                </a:solidFill>
                <a:latin typeface="Calibri"/>
              </a:rPr>
              <a:t>172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920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clear, non-overlapping lines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3108960"/>
            <a:ext cx="24688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566160" y="3108960"/>
            <a:ext cx="2468880" cy="411480"/>
          </a:xfrm>
          <a:prstGeom prst="roundRect">
            <a:avLst>
              <a:gd name="adj" fmla="val 1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TOTAL BUSES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657600"/>
            <a:ext cx="24688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 i="0">
                <a:solidFill>
                  <a:srgbClr val="F9A825"/>
                </a:solidFill>
                <a:latin typeface="Calibri"/>
              </a:rPr>
              <a:t>1,053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8920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recommended for the network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108960"/>
            <a:ext cx="24688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3108960"/>
            <a:ext cx="2468880" cy="41148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LONGEST WAIT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657600"/>
            <a:ext cx="24688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 i="0">
                <a:solidFill>
                  <a:srgbClr val="6A1B9A"/>
                </a:solidFill>
                <a:latin typeface="Calibri"/>
              </a:rPr>
              <a:t>35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920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anywhere on the network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60" y="3108960"/>
            <a:ext cx="2468880" cy="23774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52560" y="3108960"/>
            <a:ext cx="2468880" cy="41148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3108960"/>
            <a:ext cx="246888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RESIDENTS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657600"/>
            <a:ext cx="24688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4200" b="1" i="0">
                <a:solidFill>
                  <a:srgbClr val="2E7D32"/>
                </a:solidFill>
                <a:latin typeface="Calibri"/>
              </a:rPr>
              <a:t>38%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covered within a short walk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Prepared for the Principal Secretary (Transport), Government of Jammu &amp; Kashmir   ·   for planning review ahead of operator consultation.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D32F2F"/>
                </a:solidFill>
                <a:latin typeface="Calibri"/>
              </a:rPr>
              <a:t>Why this plan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Srinagar's bus network grew permit by permit, with no central frequency plan.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664208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Wasteful duplication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554480"/>
            <a:ext cx="7040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More than a dozen buses chase the same riders on the Parimpora–Lal Chowk–Dalgate corridor, while whole neighbourhoods get nothing.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596896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487168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Transit deserts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87168"/>
            <a:ext cx="7040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The southern industrial belt (Khonmoh, Rangreth) and satellite towns (Ganderbal, Pulwama) are badly under-served.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9584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19856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No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19856"/>
            <a:ext cx="7040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Without a published frequency, buses bunch together at peak hours and disappear off-peak — riders cannot plan around them.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62272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352544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Wrong bus, wrong road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352544"/>
            <a:ext cx="7040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Large buses are sent down narrow old-city lanes, while small minibuses run long inter-district highways.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394960"/>
            <a:ext cx="274320" cy="27432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285232"/>
            <a:ext cx="338328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500" b="1" i="0">
                <a:solidFill>
                  <a:srgbClr val="D32F2F"/>
                </a:solidFill>
                <a:latin typeface="Segoe UI"/>
              </a:rPr>
              <a:t>Built around half the riders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5285232"/>
            <a:ext cx="7040880" cy="8686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Almost two-thirds of riders are women, yet the network was never designed around where they actually travel.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2  ·  The problem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0695C"/>
                </a:solidFill>
                <a:latin typeface="Calibri"/>
              </a:rPr>
              <a:t>How the plan is built — four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91640"/>
            <a:ext cx="2743200" cy="41148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69164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58568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237E"/>
                </a:solidFill>
                <a:latin typeface="Calibri"/>
              </a:rPr>
              <a:t>Gather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154680"/>
            <a:ext cx="118872" cy="118872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Every registered route permit in the valley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813048"/>
            <a:ext cx="118872" cy="118872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721608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Real road driving times on the live map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4471416"/>
            <a:ext cx="118872" cy="118872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379976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Where people live, from a satellite population grid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5129783"/>
            <a:ext cx="118872" cy="118872"/>
          </a:xfrm>
          <a:prstGeom prst="ellipse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038344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The places people travel to (hospitals, colleges, markets)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00400" y="3749039"/>
            <a:ext cx="182880" cy="0"/>
          </a:xfrm>
          <a:prstGeom prst="line">
            <a:avLst/>
          </a:prstGeom>
          <a:ln w="3175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83280" y="1691640"/>
            <a:ext cx="2743200" cy="41148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383280" y="169164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169164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258568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00695C"/>
                </a:solidFill>
                <a:latin typeface="Calibri"/>
              </a:rPr>
              <a:t>Measure demand</a:t>
            </a:r>
          </a:p>
        </p:txBody>
      </p:sp>
      <p:sp>
        <p:nvSpPr>
          <p:cNvPr id="21" name="Oval 20"/>
          <p:cNvSpPr/>
          <p:nvPr/>
        </p:nvSpPr>
        <p:spPr>
          <a:xfrm>
            <a:off x="3584448" y="3154680"/>
            <a:ext cx="118872" cy="118872"/>
          </a:xfrm>
          <a:prstGeom prst="ellipse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306324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Population living within a short walk of each route</a:t>
            </a:r>
          </a:p>
        </p:txBody>
      </p:sp>
      <p:sp>
        <p:nvSpPr>
          <p:cNvPr id="23" name="Oval 22"/>
          <p:cNvSpPr/>
          <p:nvPr/>
        </p:nvSpPr>
        <p:spPr>
          <a:xfrm>
            <a:off x="3584448" y="3813048"/>
            <a:ext cx="118872" cy="118872"/>
          </a:xfrm>
          <a:prstGeom prst="ellipse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794760" y="3721608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The destinations each route reaches, weighted by importance</a:t>
            </a:r>
          </a:p>
        </p:txBody>
      </p:sp>
      <p:sp>
        <p:nvSpPr>
          <p:cNvPr id="25" name="Oval 24"/>
          <p:cNvSpPr/>
          <p:nvPr/>
        </p:nvSpPr>
        <p:spPr>
          <a:xfrm>
            <a:off x="3584448" y="4471416"/>
            <a:ext cx="118872" cy="118872"/>
          </a:xfrm>
          <a:prstGeom prst="ellipse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4379976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Extra weight for women's destinations and tourist corridors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126480" y="3749039"/>
            <a:ext cx="18288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309360" y="1691640"/>
            <a:ext cx="2743200" cy="41148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09360" y="169164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169164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2258568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6A1B9A"/>
                </a:solidFill>
                <a:latin typeface="Calibri"/>
              </a:rPr>
              <a:t>Rank and size</a:t>
            </a:r>
          </a:p>
        </p:txBody>
      </p:sp>
      <p:sp>
        <p:nvSpPr>
          <p:cNvPr id="32" name="Oval 31"/>
          <p:cNvSpPr/>
          <p:nvPr/>
        </p:nvSpPr>
        <p:spPr>
          <a:xfrm>
            <a:off x="6510528" y="3154680"/>
            <a:ext cx="118872" cy="118872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306324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Rank every route by how much travel it serves</a:t>
            </a:r>
          </a:p>
        </p:txBody>
      </p:sp>
      <p:sp>
        <p:nvSpPr>
          <p:cNvPr id="34" name="Oval 33"/>
          <p:cNvSpPr/>
          <p:nvPr/>
        </p:nvSpPr>
        <p:spPr>
          <a:xfrm>
            <a:off x="6510528" y="3813048"/>
            <a:ext cx="118872" cy="118872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3721608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Group routes into high, medium and low priority</a:t>
            </a:r>
          </a:p>
        </p:txBody>
      </p:sp>
      <p:sp>
        <p:nvSpPr>
          <p:cNvPr id="36" name="Oval 35"/>
          <p:cNvSpPr/>
          <p:nvPr/>
        </p:nvSpPr>
        <p:spPr>
          <a:xfrm>
            <a:off x="6510528" y="4471416"/>
            <a:ext cx="118872" cy="118872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0840" y="4379976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Choose how often buses run on each</a:t>
            </a:r>
          </a:p>
        </p:txBody>
      </p:sp>
      <p:sp>
        <p:nvSpPr>
          <p:cNvPr id="38" name="Oval 37"/>
          <p:cNvSpPr/>
          <p:nvPr/>
        </p:nvSpPr>
        <p:spPr>
          <a:xfrm>
            <a:off x="6510528" y="5129783"/>
            <a:ext cx="118872" cy="118872"/>
          </a:xfrm>
          <a:prstGeom prst="ellipse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20840" y="5038344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Work out how many buses that needs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052560" y="3749039"/>
            <a:ext cx="182880" cy="0"/>
          </a:xfrm>
          <a:prstGeom prst="line">
            <a:avLst/>
          </a:prstGeom>
          <a:ln w="3175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235440" y="1691640"/>
            <a:ext cx="2743200" cy="41148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35440" y="169164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5440" y="1691640"/>
            <a:ext cx="27432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STAGE 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600" y="2258568"/>
            <a:ext cx="24688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D32F2F"/>
                </a:solidFill>
                <a:latin typeface="Calibri"/>
              </a:rPr>
              <a:t>Check and publish</a:t>
            </a:r>
          </a:p>
        </p:txBody>
      </p:sp>
      <p:sp>
        <p:nvSpPr>
          <p:cNvPr id="45" name="Oval 44"/>
          <p:cNvSpPr/>
          <p:nvPr/>
        </p:nvSpPr>
        <p:spPr>
          <a:xfrm>
            <a:off x="9436608" y="3154680"/>
            <a:ext cx="118872" cy="118872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3063240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Eight automatic quality checks before anything is released</a:t>
            </a:r>
          </a:p>
        </p:txBody>
      </p:sp>
      <p:sp>
        <p:nvSpPr>
          <p:cNvPr id="47" name="Oval 46"/>
          <p:cNvSpPr/>
          <p:nvPr/>
        </p:nvSpPr>
        <p:spPr>
          <a:xfrm>
            <a:off x="9436608" y="3813048"/>
            <a:ext cx="118872" cy="118872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20" y="3721608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Compare against real electric-bus ridership as a sanity check</a:t>
            </a:r>
          </a:p>
        </p:txBody>
      </p:sp>
      <p:sp>
        <p:nvSpPr>
          <p:cNvPr id="49" name="Oval 48"/>
          <p:cNvSpPr/>
          <p:nvPr/>
        </p:nvSpPr>
        <p:spPr>
          <a:xfrm>
            <a:off x="9436608" y="4471416"/>
            <a:ext cx="118872" cy="118872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46920" y="4379976"/>
            <a:ext cx="2194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0" i="0">
                <a:solidFill>
                  <a:srgbClr val="212121"/>
                </a:solidFill>
                <a:latin typeface="Segoe UI"/>
              </a:rPr>
              <a:t>Publish the route plan, maps and the operator workbook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3  ·  Method, stage by stage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6A1B9A"/>
                </a:solidFill>
                <a:latin typeface="Calibri"/>
              </a:rPr>
              <a:t>From 620 permits to 172 clear routes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Duplicate permits are merged into unified trunk lines; the rest are kept as feeders.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754674" cy="9144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94754" y="1783080"/>
            <a:ext cx="2264024" cy="9144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94754" y="1783080"/>
            <a:ext cx="2264024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129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8779" y="1783080"/>
            <a:ext cx="7862660" cy="91440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8779" y="1783080"/>
            <a:ext cx="7862660" cy="9144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Segoe UI"/>
              </a:rPr>
              <a:t>448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926080"/>
            <a:ext cx="201168" cy="566928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926080"/>
            <a:ext cx="32918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Upgraded to trunk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218688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43 routes  ·  7% of permits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2926080"/>
            <a:ext cx="201168" cy="566928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926080"/>
            <a:ext cx="32918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Kept as feeder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3218688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129 routes  ·  21% of permits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926080"/>
            <a:ext cx="201168" cy="566928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926080"/>
            <a:ext cx="32918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Merged into a trunk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3218688"/>
            <a:ext cx="32918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448 routes  ·  72% of permits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24528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2E7D32"/>
                </a:solidFill>
                <a:latin typeface="Segoe UI"/>
              </a:rPr>
              <a:t>What changes for the rider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572000"/>
            <a:ext cx="1042416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Segoe UI"/>
              </a:rPr>
              <a:t>The 172 active routes are a clear, legible network instead of 620 overlapping permits. Trunk lines carry the busiest corridors at high frequency; feeders connect neighbourhoods into them; and the merged 448 permits stop competing for the same passengers.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4  ·  Network composition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F9A825"/>
                </a:solidFill>
                <a:latin typeface="Calibri"/>
              </a:rPr>
              <a:t>Recommended fleet — 1,053 buses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170 large (12-metre)  +  799 medium (9-metre)  +  84 small (minibus)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8308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Large bus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35661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000" b="1" i="0">
                <a:solidFill>
                  <a:srgbClr val="1565C0"/>
                </a:solidFill>
                <a:latin typeface="Calibri"/>
              </a:rPr>
              <a:t>170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49039"/>
            <a:ext cx="3657600" cy="640080"/>
          </a:xfrm>
          <a:prstGeom prst="roundRect">
            <a:avLst>
              <a:gd name="adj" fmla="val 10000"/>
            </a:avLst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012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3858768"/>
            <a:ext cx="5486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3192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12-metre standard low-floor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983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about 50 seats  ·  16% of the fleet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178308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0" y="178308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78308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Medium bus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423160"/>
            <a:ext cx="35661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000" b="1" i="0">
                <a:solidFill>
                  <a:srgbClr val="00695C"/>
                </a:solidFill>
                <a:latin typeface="Calibri"/>
              </a:rPr>
              <a:t>799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83480" y="3749039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16636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0832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5028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34200" y="3858768"/>
            <a:ext cx="3962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212080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22375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617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9-metre electric / midi 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983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about 35 seats  ·  76% of the fleet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21040" y="1783080"/>
            <a:ext cx="3566160" cy="39319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21040" y="1783080"/>
            <a:ext cx="3566160" cy="548640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21040" y="1783080"/>
            <a:ext cx="356616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Segoe UI"/>
              </a:rPr>
              <a:t>Small bus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2423160"/>
            <a:ext cx="356616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6000" b="1" i="0">
                <a:solidFill>
                  <a:srgbClr val="EF6C00"/>
                </a:solidFill>
                <a:latin typeface="Calibri"/>
              </a:rPr>
              <a:t>84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89719" y="3749039"/>
            <a:ext cx="1828800" cy="640080"/>
          </a:xfrm>
          <a:prstGeom prst="roundRect">
            <a:avLst>
              <a:gd name="adj" fmla="val 10000"/>
            </a:avLst>
          </a:prstGeom>
          <a:solidFill>
            <a:srgbClr val="EF6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37259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66215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95171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41279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530840" y="3858768"/>
            <a:ext cx="243840" cy="228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41831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515599" y="4251959"/>
            <a:ext cx="274320" cy="274320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61772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1" i="0">
                <a:solidFill>
                  <a:srgbClr val="212121"/>
                </a:solidFill>
                <a:latin typeface="Segoe UI"/>
              </a:rPr>
              <a:t>minibus / tempo traveller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983480"/>
            <a:ext cx="35661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757575"/>
                </a:solidFill>
                <a:latin typeface="Segoe UI"/>
              </a:rPr>
              <a:t>about 15 seats  ·  8% of the fleet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897880"/>
            <a:ext cx="10881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757575"/>
                </a:solidFill>
                <a:latin typeface="Segoe UI"/>
              </a:rPr>
              <a:t>On trunk corridors the large and medium buses are kept to a balanced fifty-fifty mix, so neither size dominates a route.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5  ·  Fleet composition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0695C"/>
                </a:solidFill>
                <a:latin typeface="Calibri"/>
              </a:rPr>
              <a:t>The electric-bus backbone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The plan is anchored on the existing Srinagar Smart City electric-bus routes.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2468880" cy="16002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237E"/>
                </a:solidFill>
                <a:latin typeface="Calibri"/>
              </a:rP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86584"/>
            <a:ext cx="24688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Official Smart City</a:t>
            </a:r>
            <a:br/>
            <a:r>
              <a:t>electric-bus routes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08376"/>
            <a:ext cx="2468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1">
                <a:solidFill>
                  <a:srgbClr val="757575"/>
                </a:solidFill>
                <a:latin typeface="Segoe UI"/>
              </a:rPr>
              <a:t>already operating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783080"/>
            <a:ext cx="2468880" cy="16002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1874519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00695C"/>
                </a:solidFill>
                <a:latin typeface="Calibri"/>
              </a:rPr>
              <a:t>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86584"/>
            <a:ext cx="24688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Matching permits</a:t>
            </a:r>
            <a:br/>
            <a:r>
              <a:t>in the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08376"/>
            <a:ext cx="2468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1">
                <a:solidFill>
                  <a:srgbClr val="757575"/>
                </a:solidFill>
                <a:latin typeface="Segoe UI"/>
              </a:rPr>
              <a:t>duplicate operators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1783080"/>
            <a:ext cx="2468880" cy="16002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874519"/>
            <a:ext cx="24688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6A1B9A"/>
                </a:solidFill>
                <a:latin typeface="Calibri"/>
              </a:rPr>
              <a:t>8.0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386584"/>
            <a:ext cx="24688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Buses per route</a:t>
            </a:r>
            <a:br/>
            <a:r>
              <a:t>recommended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008376"/>
            <a:ext cx="24688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1">
                <a:solidFill>
                  <a:srgbClr val="757575"/>
                </a:solidFill>
                <a:latin typeface="Segoe UI"/>
              </a:rPr>
              <a:t>at a 15-minute service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1783080"/>
            <a:ext cx="2011680" cy="160020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0" y="1874519"/>
            <a:ext cx="20116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Calibri"/>
              </a:rPr>
              <a:t>+9.7%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386584"/>
            <a:ext cx="2011680" cy="56692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212121"/>
                </a:solidFill>
                <a:latin typeface="Segoe UI"/>
              </a:rPr>
              <a:t>Above the frequency-matched</a:t>
            </a:r>
            <a:br/>
            <a:r>
              <a:t>fleet benchmark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008376"/>
            <a:ext cx="20116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50" b="0" i="1">
                <a:solidFill>
                  <a:srgbClr val="757575"/>
                </a:solidFill>
                <a:latin typeface="Segoe UI"/>
              </a:rPr>
              <a:t>comfortably within tolerance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08960" y="2578608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2578608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44000" y="2578608"/>
            <a:ext cx="548640" cy="0"/>
          </a:xfrm>
          <a:prstGeom prst="line">
            <a:avLst/>
          </a:prstGeom>
          <a:ln w="3175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3703320"/>
            <a:ext cx="11064240" cy="2286000"/>
          </a:xfrm>
          <a:prstGeom prst="roundRect">
            <a:avLst>
              <a:gd name="adj" fmla="val 10000"/>
            </a:avLst>
          </a:prstGeom>
          <a:solidFill>
            <a:srgbClr val="FFF8E1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776472"/>
            <a:ext cx="10515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F9A825"/>
                </a:solidFill>
                <a:latin typeface="Segoe UI"/>
              </a:rPr>
              <a:t>Operators absorbed into the new network — indicative compensation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148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9A825"/>
                </a:solidFill>
                <a:latin typeface="Segoe UI"/>
              </a:rPr>
              <a:t>Operator type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1148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9A825"/>
                </a:solidFill>
                <a:latin typeface="Segoe UI"/>
              </a:rPr>
              <a:t>Permits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1148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9A825"/>
                </a:solidFill>
                <a:latin typeface="Segoe UI"/>
              </a:rPr>
              <a:t>Recommended 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4114800"/>
            <a:ext cx="347472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F9A825"/>
                </a:solidFill>
                <a:latin typeface="Segoe UI"/>
              </a:rPr>
              <a:t>Indicative cost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425696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Private minibus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425696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329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35040" y="4425696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Buy back at about Rs 15 lakh each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4425696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Rs 49.35 Cr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4727448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Small bus / tempo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727448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75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727448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Reassign to last-mile feeder duty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4727448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Rs 2.25 Cr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029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Large bus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029200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35040" y="5029200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Absorb into the public fleet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502920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0">
                <a:solidFill>
                  <a:srgbClr val="212121"/>
                </a:solidFill>
                <a:latin typeface="Segoe UI"/>
              </a:rPr>
              <a:t>Rs 0.00 Cr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" y="5330952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212121"/>
                </a:solidFill>
                <a:latin typeface="Segoe UI"/>
              </a:rPr>
              <a:t>Total absorbed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5330952"/>
            <a:ext cx="12801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212121"/>
                </a:solidFill>
                <a:latin typeface="Segoe UI"/>
              </a:rPr>
              <a:t>448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5330952"/>
            <a:ext cx="3840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212121"/>
                </a:solidFill>
                <a:latin typeface="Segoe UI"/>
              </a:rPr>
              <a:t>Mixed strategy, by consultation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5330952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1" i="0">
                <a:solidFill>
                  <a:srgbClr val="D32F2F"/>
                </a:solidFill>
                <a:latin typeface="Segoe UI"/>
              </a:rPr>
              <a:t>Rs 51.60 Cr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" y="5669280"/>
            <a:ext cx="10515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egoe UI"/>
              </a:rPr>
              <a:t>Costs are indicative estimates from peer-city averages — not a price commitment.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6  ·  Backbone and operator absorption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6A1B9A"/>
                </a:solidFill>
                <a:latin typeface="Calibri"/>
              </a:rPr>
              <a:t>How often buses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Buses are spaced by wait time. No route in the plan waits longer than 35 minutes.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60020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0 min</a:t>
            </a:r>
          </a:p>
        </p:txBody>
      </p:sp>
      <p:sp>
        <p:nvSpPr>
          <p:cNvPr id="6" name="Rectangle 5"/>
          <p:cNvSpPr/>
          <p:nvPr/>
        </p:nvSpPr>
        <p:spPr>
          <a:xfrm>
            <a:off x="29169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60020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10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47457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60020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20 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745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9" y="160020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30 min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033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19" y="1600200"/>
            <a:ext cx="7315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  <a:latin typeface="Segoe UI"/>
              </a:rPr>
              <a:t>40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32136" y="1828800"/>
            <a:ext cx="18288" cy="3657600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1920240"/>
            <a:ext cx="256032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Smart City electric backbone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26080" y="2103120"/>
            <a:ext cx="7315200" cy="685799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70632" y="223570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513832" y="223570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57031" y="223570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59" y="202996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  <a:latin typeface="Segoe UI"/>
              </a:rPr>
              <a:t>every 15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59" y="2395728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egoe UI"/>
              </a:rPr>
              <a:t>41 routes · the busiest corridors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200400"/>
            <a:ext cx="256032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Main trunk lines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26080" y="3383280"/>
            <a:ext cx="7315200" cy="685799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70632" y="351586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28232" y="351586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24159" y="331012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A237E"/>
                </a:solidFill>
                <a:latin typeface="Segoe UI"/>
              </a:rPr>
              <a:t>every 20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59" y="3675887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egoe UI"/>
              </a:rPr>
              <a:t>22 routes · high-demand routes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480560"/>
            <a:ext cx="2560320" cy="10515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  <a:latin typeface="Segoe UI"/>
              </a:rPr>
              <a:t>Feeders and lifeline routes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926080" y="4663440"/>
            <a:ext cx="7315200" cy="685799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70632" y="479602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171432" y="4796028"/>
            <a:ext cx="310896" cy="420624"/>
          </a:xfrm>
          <a:prstGeom prst="roundRect">
            <a:avLst>
              <a:gd name="adj" fmla="val 10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24159" y="4590288"/>
            <a:ext cx="17373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  <a:latin typeface="Segoe UI"/>
              </a:rPr>
              <a:t>every 35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59" y="4956048"/>
            <a:ext cx="17373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50" b="0" i="1">
                <a:solidFill>
                  <a:srgbClr val="757575"/>
                </a:solidFill>
                <a:latin typeface="Segoe UI"/>
              </a:rPr>
              <a:t>109 routes · neighbourhood &amp; rural links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852160"/>
            <a:ext cx="11430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Earlier drafts allowed one-hour waits on lifeline routes; those have been removed — the longest wait anywhere is now 35 minutes.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7  ·  Service frequency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Calibri"/>
              </a:rPr>
              <a:t>The methodology, stated in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Every number rests on a standard transit-planning formula. Here they are, written 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08760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1A23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55063"/>
            <a:ext cx="4937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1A237E"/>
                </a:solidFill>
                <a:latin typeface="Segoe UI"/>
              </a:rPr>
              <a:t>Number of buses on a route = round-trip time divided by how often a bus runs, rounded up, plus a 15% spare allowance for maintenance and breakdowns.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06624"/>
            <a:ext cx="49377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Buses  =  round-trip time ÷ wait between buses  (rounded up)  × 1.15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90672"/>
            <a:ext cx="493776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Segoe UI"/>
              </a:rPr>
              <a:t>Basis:  Vuchic (2005); Ceder (2007); spare allowance per industry practice.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486400" cy="196596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0069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55063"/>
            <a:ext cx="4937760" cy="10515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Round-trip time = driving time both ways + time spent at stops + junction delays + peak-hour congestion + a recovery buffer to keep to schedule.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706624"/>
            <a:ext cx="49377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round-trip time  =  driving + stops + junctions + congestion + recovery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90672"/>
            <a:ext cx="493776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Segoe UI"/>
              </a:rPr>
              <a:t>Basis:  Transit Capacity &amp; Quality of Service Manual (Transportation Research Board, 2013).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657600"/>
            <a:ext cx="5486400" cy="233172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03904"/>
            <a:ext cx="4937760" cy="1417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A1B9A"/>
                </a:solidFill>
                <a:latin typeface="Segoe UI"/>
              </a:rPr>
              <a:t>Estimated daily riders = people within a short walk × the share who take the bus × trips per day × the route's share of a shared corridor × a calibration factor. It is computed automatically from open data, with no operator GPS feed needed.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5221224"/>
            <a:ext cx="49377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riders  =  walk-up population × bus share × trips × corridor share × factor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5605272"/>
            <a:ext cx="493776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Segoe UI"/>
              </a:rPr>
              <a:t>Basis:  Gravity / accessibility model — Hansen (1959); Ortúzar &amp; Willumsen (2011).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657600"/>
            <a:ext cx="5486400" cy="2331720"/>
          </a:xfrm>
          <a:prstGeom prst="roundRect">
            <a:avLst>
              <a:gd name="adj" fmla="val 10000"/>
            </a:avLst>
          </a:prstGeom>
          <a:solidFill>
            <a:srgbClr val="F5F6FA"/>
          </a:solidFill>
          <a:ln w="1270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03904"/>
            <a:ext cx="4937760" cy="14173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Composite Demand Index = half the population score + half the destinations score. Routes are then grouped into high, medium and low priority, which sets how often buses run on each.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5221224"/>
            <a:ext cx="493776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50" b="0" i="1">
                <a:solidFill>
                  <a:srgbClr val="212121"/>
                </a:solidFill>
                <a:latin typeface="Segoe UI"/>
              </a:rPr>
              <a:t>demand index  =  ½ population  +  ½ destinations  →  natural-breaks grouping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605272"/>
            <a:ext cx="493776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Segoe UI"/>
              </a:rPr>
              <a:t>Basis:  Natural-breaks classification — Jenks (1967).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8  ·  Formulas and their basis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0695C"/>
                </a:solidFill>
                <a:latin typeface="Calibri"/>
              </a:rPr>
              <a:t>Sources and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The data behind the plan, and the published research behind each method.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394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Population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11095"/>
            <a:ext cx="5394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WorldPop satellite-derived population grid (Tatem, 2017); Census of India 2011; Srinagar Smart City detailed project report.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07208"/>
            <a:ext cx="5394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Road network &amp; travel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18104"/>
            <a:ext cx="5394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OpenStreetMap road data; routing by the open-source routing engine OSRM (Luxen &amp; Vetter, 2011).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14216"/>
            <a:ext cx="5394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Destinations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25112"/>
            <a:ext cx="5394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Points of interest from OpenStreetMap (hospitals, colleges, markets, offices).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21224"/>
            <a:ext cx="5394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Walking distance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532120"/>
            <a:ext cx="5394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Four-hundred-metre walk catchment, about a five-minute walk (El-Geneidy et al., 2014).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59" y="1600200"/>
            <a:ext cx="5394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Buses &amp; frequency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1911095"/>
            <a:ext cx="5394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Vuchic, Urban Transit (2005); Ceder, Public Transit Planning and Operation (2007).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2807208"/>
            <a:ext cx="5394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Cycle &amp; recovery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118104"/>
            <a:ext cx="5394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Transit Capacity and Quality of Service Manual, Transportation Research Board (2013).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59" y="4014216"/>
            <a:ext cx="5394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Demand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4325112"/>
            <a:ext cx="5394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Hansen, accessibility model (1959); Ortúzar &amp; Willumsen, Modelling Transport (2011).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5221224"/>
            <a:ext cx="5394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0695C"/>
                </a:solidFill>
                <a:latin typeface="Segoe UI"/>
              </a:rPr>
              <a:t>Ridership check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5532120"/>
            <a:ext cx="539496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Srinagar Smart City electric-bus published ridership totals (an aggregate figure — no individual GPS or fare-card traces are used).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9  ·  Sources and references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Calibri"/>
              </a:rPr>
              <a:t>How the fleet compares with other Indian cities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Buses per one thousand residents — the plan sits comfortably in the peer-city range.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2918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Mysuru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792224"/>
            <a:ext cx="192024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35040" y="1737360"/>
            <a:ext cx="91440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21408"/>
            <a:ext cx="32918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Bhopal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2176272"/>
            <a:ext cx="2359152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2121408"/>
            <a:ext cx="91440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05456"/>
            <a:ext cx="32918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Indore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2560320"/>
            <a:ext cx="2468879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2505456"/>
            <a:ext cx="91440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89504"/>
            <a:ext cx="32918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Bengaluru (BMTC)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0" y="2944368"/>
            <a:ext cx="2798063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12864" y="2889504"/>
            <a:ext cx="91440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273552"/>
            <a:ext cx="32918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00695C"/>
                </a:solidFill>
                <a:latin typeface="Segoe UI"/>
              </a:rPr>
              <a:t>Srinagar (this plan)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0" y="3328416"/>
            <a:ext cx="3017520" cy="237744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3273552"/>
            <a:ext cx="91440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00695C"/>
                </a:solidFill>
                <a:latin typeface="Segoe UI"/>
              </a:rPr>
              <a:t>0.55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32918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Chandigarh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3712463"/>
            <a:ext cx="356616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0" y="3657600"/>
            <a:ext cx="91440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041648"/>
            <a:ext cx="32918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Pune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3360" y="4096511"/>
            <a:ext cx="4114800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041648"/>
            <a:ext cx="91440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425696"/>
            <a:ext cx="32918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Delhi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023360" y="4480559"/>
            <a:ext cx="4937759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4425696"/>
            <a:ext cx="91440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0.90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809744"/>
            <a:ext cx="329184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Mumbai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0" y="4864607"/>
            <a:ext cx="6583679" cy="237744"/>
          </a:xfrm>
          <a:prstGeom prst="rect">
            <a:avLst/>
          </a:prstGeom>
          <a:solidFill>
            <a:srgbClr val="BDBD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698480" y="4809744"/>
            <a:ext cx="914400" cy="33832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757575"/>
                </a:solidFill>
                <a:latin typeface="Segoe UI"/>
              </a:rPr>
              <a:t>1.20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  <a:latin typeface="Segoe UI"/>
              </a:rPr>
              <a:t>At 0.55 buses per thousand residents, Srinagar is closest to Chandigarh — comparable in size, terrain and scope.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10  ·  Peer-city comparison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6A1B9A"/>
                </a:solidFill>
                <a:latin typeface="Calibri"/>
              </a:rPr>
              <a:t>What is modelled today, and how it sharpens with more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The method is sound today and improves as official datasets become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737360"/>
            <a:ext cx="40233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Modelled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737360"/>
            <a:ext cx="4206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757575"/>
                </a:solidFill>
                <a:latin typeface="Segoe UI"/>
              </a:rPr>
              <a:t>Sharper with official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240280"/>
            <a:ext cx="137160" cy="50292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Walking distance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2240280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46120" y="2240280"/>
            <a:ext cx="365760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Straight-line walk catchment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040880" y="2505456"/>
            <a:ext cx="365760" cy="0"/>
          </a:xfrm>
          <a:prstGeom prst="line">
            <a:avLst/>
          </a:prstGeom>
          <a:ln w="25400">
            <a:solidFill>
              <a:srgbClr val="6A1B9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98079" y="224028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2240280"/>
            <a:ext cx="393192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Street-network walk paths around lakes and the river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53512"/>
            <a:ext cx="137160" cy="5029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62072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Population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953512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46120" y="2953512"/>
            <a:ext cx="365760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Satellite population grid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040880" y="3218688"/>
            <a:ext cx="365760" cy="0"/>
          </a:xfrm>
          <a:prstGeom prst="line">
            <a:avLst/>
          </a:prstGeom>
          <a:ln w="25400">
            <a:solidFill>
              <a:srgbClr val="00695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498079" y="2953512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2953512"/>
            <a:ext cx="393192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Ward-level census counts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66744"/>
            <a:ext cx="137160" cy="5029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75304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Travel 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3666744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666744"/>
            <a:ext cx="365760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Open routing-engine estimate with a congestion factor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40880" y="3931920"/>
            <a:ext cx="365760" cy="0"/>
          </a:xfrm>
          <a:prstGeom prst="line">
            <a:avLst/>
          </a:prstGeom>
          <a:ln w="25400">
            <a:solidFill>
              <a:srgbClr val="F9A82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498079" y="3666744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35240" y="3666744"/>
            <a:ext cx="393192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Measured bus speeds from the field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379975"/>
            <a:ext cx="137160" cy="502920"/>
          </a:xfrm>
          <a:prstGeom prst="rect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288536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Demand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08960" y="4379975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46120" y="4379975"/>
            <a:ext cx="365760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Population-based estimate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040880" y="4645151"/>
            <a:ext cx="365760" cy="0"/>
          </a:xfrm>
          <a:prstGeom prst="line">
            <a:avLst/>
          </a:prstGeom>
          <a:ln w="25400">
            <a:solidFill>
              <a:srgbClr val="D32F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498079" y="4379975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5240" y="4379975"/>
            <a:ext cx="393192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Fare-card ridership, route by route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093208"/>
            <a:ext cx="137160" cy="50292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001768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Tourist demand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08960" y="5093208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46120" y="5093208"/>
            <a:ext cx="365760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Weighted tourist destinations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040880" y="5358384"/>
            <a:ext cx="365760" cy="0"/>
          </a:xfrm>
          <a:prstGeom prst="line">
            <a:avLst/>
          </a:prstGeom>
          <a:ln w="25400">
            <a:solidFill>
              <a:srgbClr val="1A2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498079" y="5093208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35240" y="5093208"/>
            <a:ext cx="393192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Actual visitor-arrival figures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13716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15000"/>
            <a:ext cx="2286000" cy="62179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212121"/>
                </a:solidFill>
                <a:latin typeface="Segoe UI"/>
              </a:rPr>
              <a:t>Road closures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108960" y="5806440"/>
            <a:ext cx="3840480" cy="530352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46120" y="5806440"/>
            <a:ext cx="365760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Not yet modelled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040880" y="6071616"/>
            <a:ext cx="365760" cy="0"/>
          </a:xfrm>
          <a:prstGeom prst="line">
            <a:avLst/>
          </a:prstGeom>
          <a:ln w="25400">
            <a:solidFill>
              <a:srgbClr val="2E7D32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498079" y="5806440"/>
            <a:ext cx="4206240" cy="530352"/>
          </a:xfrm>
          <a:prstGeom prst="roundRect">
            <a:avLst>
              <a:gd name="adj" fmla="val 10000"/>
            </a:avLst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5806440"/>
            <a:ext cx="3931920" cy="53035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Segoe UI"/>
              </a:rPr>
              <a:t>Highway-convoy and winter-closure calendar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11  ·  Today's model and its refinements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00695C"/>
                </a:solidFill>
                <a:latin typeface="Calibri"/>
              </a:rPr>
              <a:t>Data we would value from your office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32688"/>
            <a:ext cx="11338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757575"/>
                </a:solidFill>
                <a:latin typeface="Segoe UI"/>
              </a:rPr>
              <a:t>These refinements are limited by data availability, not by method. The concrete ask: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463040"/>
            <a:ext cx="11475720" cy="292608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99616"/>
            <a:ext cx="14630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Priority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499616"/>
            <a:ext cx="32918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499616"/>
            <a:ext cx="621792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Segoe UI"/>
              </a:rPr>
              <a:t>Why it matters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792224"/>
            <a:ext cx="11475720" cy="49377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901952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901952"/>
            <a:ext cx="1325880" cy="27431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Most useful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837943"/>
            <a:ext cx="32918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Live operator permit registry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2066543"/>
            <a:ext cx="32918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Permit number, owner, vehicle and depot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792224"/>
            <a:ext cx="640080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Turns the merged permits into an exact, defensible compensation list.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432304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32304"/>
            <a:ext cx="1325880" cy="27431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Most useful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2368296"/>
            <a:ext cx="32918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Bus position records from current operators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2596896"/>
            <a:ext cx="32918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A few weeks of location traces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322576"/>
            <a:ext cx="640080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Replaces the open routing-engine travel-time estimate with measured speeds.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2852928"/>
            <a:ext cx="11475720" cy="49377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2962656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62656"/>
            <a:ext cx="1325880" cy="27431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Valuable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898648"/>
            <a:ext cx="32918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Ward-level population from the latest census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127248"/>
            <a:ext cx="32918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Ward boundaries and counts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852928"/>
            <a:ext cx="640080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Sharpens the demand score and the priority grouping.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3493008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3493008"/>
            <a:ext cx="1325880" cy="27431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Valuable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428999"/>
            <a:ext cx="32918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Fare-card ridership, route by route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3657599"/>
            <a:ext cx="32918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Daily boardings per route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383279"/>
            <a:ext cx="640080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Enables true route-level demand and frequency-induced ridership.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3913631"/>
            <a:ext cx="11475720" cy="49377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02920" y="4023359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023359"/>
            <a:ext cx="1325880" cy="27431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Valuable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3959351"/>
            <a:ext cx="32918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Tourist arrival figures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4187951"/>
            <a:ext cx="32918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Daily arrivals for Gulmarg, Pahalgam, Sonamarg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3913631"/>
            <a:ext cx="640080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Lets us size the seasonal tourist fleet on real numbers.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4553712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553712"/>
            <a:ext cx="1325880" cy="27431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Future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4489703"/>
            <a:ext cx="32918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Road-operability calendar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57400" y="4718303"/>
            <a:ext cx="32918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Convoy and winter-closure dates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0" y="4443983"/>
            <a:ext cx="640080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Automatically stands down routes that cannot run in winter.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974336"/>
            <a:ext cx="11475720" cy="493775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02920" y="5084064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5084064"/>
            <a:ext cx="1325880" cy="27431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Future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020055"/>
            <a:ext cx="32918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Bus-stop and depot inventory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248655"/>
            <a:ext cx="32918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Location of every stop and depot capacity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974336"/>
            <a:ext cx="640080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Replaces the assumed stop spacing with the real network.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" y="5614416"/>
            <a:ext cx="1325880" cy="274319"/>
          </a:xfrm>
          <a:prstGeom prst="roundRect">
            <a:avLst>
              <a:gd name="adj" fmla="val 10000"/>
            </a:avLst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5614416"/>
            <a:ext cx="1325880" cy="274319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Segoe UI"/>
              </a:rPr>
              <a:t>Future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057400" y="5550407"/>
            <a:ext cx="3291840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50" b="1" i="0">
                <a:solidFill>
                  <a:srgbClr val="212121"/>
                </a:solidFill>
                <a:latin typeface="Segoe UI"/>
              </a:rPr>
              <a:t>Bridge-weight and road-width register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5779007"/>
            <a:ext cx="3291840" cy="21945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850" b="0" i="1">
                <a:solidFill>
                  <a:srgbClr val="757575"/>
                </a:solidFill>
                <a:latin typeface="Segoe UI"/>
              </a:rPr>
              <a:t>Per-bridge limits and arterial widths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5504688"/>
            <a:ext cx="6400800" cy="493775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000" b="0" i="0">
                <a:solidFill>
                  <a:srgbClr val="212121"/>
                </a:solidFill>
                <a:latin typeface="Segoe UI"/>
              </a:rPr>
              <a:t>Keeps large buses off roads and bridges that cannot take them.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12  ·  Data request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3385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700" b="1" i="0">
                <a:solidFill>
                  <a:srgbClr val="1A237E"/>
                </a:solidFill>
                <a:latin typeface="Calibri"/>
              </a:rPr>
              <a:t>What this plan is — and what it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577840" cy="461772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0020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5778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</a:t>
            </a:r>
          </a:p>
        </p:txBody>
      </p:sp>
      <p:sp>
        <p:nvSpPr>
          <p:cNvPr id="7" name="Oval 6"/>
          <p:cNvSpPr/>
          <p:nvPr/>
        </p:nvSpPr>
        <p:spPr>
          <a:xfrm>
            <a:off x="777240" y="244144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4144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9572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172 active routes, ranked by demand and grouped into priority tiers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21868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1868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17296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Buses sized for a published frequency — every 15, 20 or 35 minutes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99592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9592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95020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Anchored on the Smart City electric-bus routes, checked against their ridership</a:t>
            </a:r>
          </a:p>
        </p:txBody>
      </p:sp>
      <p:sp>
        <p:nvSpPr>
          <p:cNvPr id="16" name="Oval 15"/>
          <p:cNvSpPr/>
          <p:nvPr/>
        </p:nvSpPr>
        <p:spPr>
          <a:xfrm>
            <a:off x="777240" y="4773168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77316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72744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An operator workbook with absorption and indicative compensation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5550407"/>
            <a:ext cx="320040" cy="320040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50407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50468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fully reproducible analysis — every number traces back to its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1600200"/>
            <a:ext cx="5577840" cy="4617720"/>
          </a:xfrm>
          <a:prstGeom prst="roundRect">
            <a:avLst>
              <a:gd name="adj" fmla="val 10000"/>
            </a:avLst>
          </a:prstGeom>
          <a:solidFill>
            <a:srgbClr val="FFEBEE"/>
          </a:solidFill>
          <a:ln w="12700">
            <a:solidFill>
              <a:srgbClr val="D32F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55080" y="1600200"/>
            <a:ext cx="5577840" cy="548640"/>
          </a:xfrm>
          <a:prstGeom prst="roundRect">
            <a:avLst>
              <a:gd name="adj" fmla="val 10000"/>
            </a:avLst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1600200"/>
            <a:ext cx="55778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WHAT IT IS NOT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244144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44144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239572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passenger survey — on-the-ground validation is still advisable</a:t>
            </a:r>
          </a:p>
        </p:txBody>
      </p:sp>
      <p:sp>
        <p:nvSpPr>
          <p:cNvPr id="28" name="Oval 27"/>
          <p:cNvSpPr/>
          <p:nvPr/>
        </p:nvSpPr>
        <p:spPr>
          <a:xfrm>
            <a:off x="6583680" y="321868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21868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317296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statement of the exact extra buses needed versus those running today</a:t>
            </a:r>
          </a:p>
        </p:txBody>
      </p:sp>
      <p:sp>
        <p:nvSpPr>
          <p:cNvPr id="31" name="Oval 30"/>
          <p:cNvSpPr/>
          <p:nvPr/>
        </p:nvSpPr>
        <p:spPr>
          <a:xfrm>
            <a:off x="6583680" y="399592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99592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95020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Final, committed frequencies — these follow operator consultation</a:t>
            </a:r>
          </a:p>
        </p:txBody>
      </p:sp>
      <p:sp>
        <p:nvSpPr>
          <p:cNvPr id="34" name="Oval 33"/>
          <p:cNvSpPr/>
          <p:nvPr/>
        </p:nvSpPr>
        <p:spPr>
          <a:xfrm>
            <a:off x="6583680" y="4773168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773168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72744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compensation price — the figures are indicative estimates</a:t>
            </a:r>
          </a:p>
        </p:txBody>
      </p:sp>
      <p:sp>
        <p:nvSpPr>
          <p:cNvPr id="37" name="Oval 36"/>
          <p:cNvSpPr/>
          <p:nvPr/>
        </p:nvSpPr>
        <p:spPr>
          <a:xfrm>
            <a:off x="6583680" y="5550407"/>
            <a:ext cx="320040" cy="320040"/>
          </a:xfrm>
          <a:prstGeom prst="ellipse">
            <a:avLst/>
          </a:prstGeom>
          <a:solidFill>
            <a:srgbClr val="D32F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5550407"/>
            <a:ext cx="320040" cy="3200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✗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504688"/>
            <a:ext cx="4754880" cy="713232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Segoe UI"/>
              </a:rPr>
              <a:t>A tourist-demand model — that needs real arrival data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55664"/>
            <a:ext cx="112471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  <a:latin typeface="Segoe UI"/>
              </a:rPr>
              <a:t>Slide 13  ·  Honest scope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88952" cy="73152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00" b="1" i="0">
                <a:solidFill>
                  <a:srgbClr val="B2DFDB"/>
                </a:solidFill>
                <a:latin typeface="Calibri"/>
              </a:rPr>
              <a:t>The recommended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Five asks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50592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Approve the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468880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Endorse the recommended network at the first-stage review.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182112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63824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Open operator dialogue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182112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Authorise consultation with the All Jammu &amp; Kashmir Transport Welfare Association.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95344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95344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877056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Roll out in phases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895344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Start with the electric-bus backbone and main trunks; extend to feeders as ridership confirms.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4608576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08576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90288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Refresh with new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608576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Update the analysis as official datasets and ridership become available.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321808"/>
            <a:ext cx="548640" cy="548640"/>
          </a:xfrm>
          <a:prstGeom prst="ellipse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21808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200" b="1">
                <a:solidFill>
                  <a:srgbClr val="1A237E"/>
                </a:solidFill>
                <a:latin typeface="Segoe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303520"/>
            <a:ext cx="31089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Commission the refinements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21808"/>
            <a:ext cx="713232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200" b="0" i="1">
                <a:solidFill>
                  <a:srgbClr val="B2DFDB"/>
                </a:solidFill>
                <a:latin typeface="Segoe UI"/>
              </a:rPr>
              <a:t>Sanction the next round of work — street-network walking, ridership-based demand, road-closure calendar.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1">
                <a:solidFill>
                  <a:srgbClr val="FFFFFF"/>
                </a:solidFill>
                <a:latin typeface="Segoe UI"/>
              </a:rPr>
              <a:t>The route plan, interactive map and operator workbook are available for review on the dashboard.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